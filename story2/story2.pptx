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0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0"/>
    <p:restoredTop sz="94677"/>
  </p:normalViewPr>
  <p:slideViewPr>
    <p:cSldViewPr snapToGrid="0">
      <p:cViewPr>
        <p:scale>
          <a:sx n="89" d="100"/>
          <a:sy n="89" d="100"/>
        </p:scale>
        <p:origin x="696" y="2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6B2F1-DCFA-1D43-8372-1981236FBC9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69F44-E0BE-E345-826A-71DA71D8D2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0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762E-D174-7D87-A96B-563FAFD50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51FEC-C465-C329-2E0C-CBD08D760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44894-D71F-6E15-AB8C-AFDE0B18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E629-17BC-2ADC-160D-591858D4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86EE4-C331-15C1-9A04-428E7EA5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11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AD7C-8004-174F-25C4-352CFC1F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2D92-AF97-DAA6-218C-BA065A1F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02D0-F24F-7C00-F2BC-7EF2B12D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4972F-D421-6783-213D-6B627208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3459D-39C1-EA7A-102B-74192C30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485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B7C9-9CA1-362D-B1BA-822C631E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66338-D025-ED8F-7609-BEE055B4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CA8CB-7A83-76BC-A355-1771B996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911CB-4709-8A22-31DF-A8FF17FD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E8921-4E6F-71F7-DF1E-D6B5D00E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90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BA42-2DAA-771C-E531-89FFC353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A79FD-FB6F-8633-8436-8F8EBC8FD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679C1-8192-5720-E9DC-6CADF728B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5CB11-FA4C-DE61-64BA-F5DB5F12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346C7-AECA-BD7E-A259-FFAC258C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9B853-9469-99F5-940C-7E039E0F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0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14E0-3450-1767-1664-6498D495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74B06-C6FE-C264-D503-AA7CD2154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C362E-DFDE-3FB6-B20F-848688B76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D13FE-950D-5E0A-BF1B-8261E9A10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7BEF1-A6EA-6452-78D4-BA4B7A783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1EAE2-22C4-BDB1-BC64-6A1740D5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5DAEF-92B1-A263-B473-ECDCEF7B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6BD4A-A409-25C9-EE17-E11A0C0D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7737-3572-E5FE-D576-212ADA76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67860-FD6C-D4D5-5E43-AE13472F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D15F1-E5D6-151D-3B12-0BA4FE3E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F440B-A74E-C019-5A70-4D9DA1FF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7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81EFF-04B5-5DC0-7BED-3A00862A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1D8F76-DE52-DCB0-3E0F-0BA51C6B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4E55E-5A48-B867-D4AA-5467BD39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7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87DC-6CB7-DCC7-8024-97229B3C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A8FF-721C-F938-833C-58FBF133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ADF2B-F6C4-45E1-2037-1C5B3028F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21923-2995-F307-8E15-99D0B9DA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C0B52-291B-F0C6-DC4F-9FEAFDDC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C1F18-7E93-5307-3D0C-613404FD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6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6006-AAB5-E5B4-6F46-7086DFEC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04D72-6080-4549-9FBE-168A26BA9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FAD1D-6BDE-DD09-8222-A74C9D158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B9CFE-B366-D72B-704A-AD8ECE62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8EBE4-34F7-C5F5-D2B6-F8E7EFA3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D5405-C21F-AF5C-A28C-987F88ED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11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50BA-746D-86B3-2FCF-93E94420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9EE4F-422B-C3C9-73CD-EBBE4FEE6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54D42-8859-F506-8A66-0E74DEF7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C0DB-0BAC-F7B1-93D6-DA379A7A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3A3F9-7F60-87CB-4AEB-35164184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8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A73F8-AAF0-F929-0F4D-71CAEC16E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80A6E-8B92-AE64-D570-B0387B807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F4EB6-F70D-4DE8-8166-9C055D58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1A3D1-76F7-477F-2729-5571387BC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AF3D-7800-383D-D8D2-DEEE15ED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55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A334F-A1BF-9965-5C31-559C66D9F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A0DE0-897E-CFBF-CA93-D492A910E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BD766-A352-FF6D-7644-31BA6E246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82DDE-A2D8-E647-B7C4-54DBC0C27FC1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8798A-1E97-1FA2-99C7-65346C56D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6A0A-A285-097D-21E0-6121DCBFF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9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84A5-642E-C3DD-0F70-CC767AA07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400" dirty="0"/>
              <a:t>The Fed Paradox: Inflation &amp; Employment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0718D-2E20-3CE6-9538-A1362784B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Maxfield Raynolds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Data 608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Story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February 22, 2026</a:t>
            </a:r>
          </a:p>
        </p:txBody>
      </p:sp>
    </p:spTree>
    <p:extLst>
      <p:ext uri="{BB962C8B-B14F-4D97-AF65-F5344CB8AC3E}">
        <p14:creationId xmlns:p14="http://schemas.microsoft.com/office/powerpoint/2010/main" val="372760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7985-EE75-DEDA-EEEE-51D6B071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 &amp; Employment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73966-61D6-3A1E-A4EC-E8FE7C47F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Federal Reserve Bank (The Fed) has a dual mandate: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Control inflation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Maximize employment (minimize unemployment)</a:t>
            </a:r>
          </a:p>
          <a:p>
            <a:r>
              <a:rPr lang="en-US" dirty="0"/>
              <a:t>Influenced by the Department of Labor’s </a:t>
            </a:r>
            <a:r>
              <a:rPr lang="en-US" dirty="0">
                <a:solidFill>
                  <a:srgbClr val="00B050"/>
                </a:solidFill>
              </a:rPr>
              <a:t>Consumer Price Index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Unemployment Rate</a:t>
            </a:r>
            <a:r>
              <a:rPr lang="en-US" dirty="0"/>
              <a:t>, The Fed’s primary tool for achieving its mandate is controlling the </a:t>
            </a:r>
            <a:r>
              <a:rPr lang="en-US" dirty="0">
                <a:solidFill>
                  <a:srgbClr val="7030A0"/>
                </a:solidFill>
              </a:rPr>
              <a:t>The Fed Funds Rate.</a:t>
            </a:r>
          </a:p>
          <a:p>
            <a:endParaRPr lang="en-US" dirty="0"/>
          </a:p>
          <a:p>
            <a:r>
              <a:rPr lang="en-US" b="1" dirty="0"/>
              <a:t>Over the last 25 years has The Fed been able to achieve this dual mandate?</a:t>
            </a:r>
          </a:p>
        </p:txBody>
      </p:sp>
      <p:pic>
        <p:nvPicPr>
          <p:cNvPr id="8" name="Picture Placeholder 7" descr="A graph of a graph showing the amount of unemployment rate&#10;&#10;AI-generated content may be incorrect.">
            <a:extLst>
              <a:ext uri="{FF2B5EF4-FFF2-40B4-BE49-F238E27FC236}">
                <a16:creationId xmlns:a16="http://schemas.microsoft.com/office/drawing/2014/main" id="{04412703-3E85-89D3-D337-58DE6E4180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1" t="12" r="-514"/>
          <a:stretch>
            <a:fillRect/>
          </a:stretch>
        </p:blipFill>
        <p:spPr bwMode="auto">
          <a:xfrm>
            <a:off x="4772025" y="1257300"/>
            <a:ext cx="6823017" cy="41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415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B0FF-FFC6-8CB7-7CC2-FE79310C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</a:t>
            </a:r>
          </a:p>
        </p:txBody>
      </p:sp>
      <p:pic>
        <p:nvPicPr>
          <p:cNvPr id="8" name="Picture Placeholder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69CA36F0-BC30-2B44-700A-648AAB151B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38" t="33" r="347"/>
          <a:stretch>
            <a:fillRect/>
          </a:stretch>
        </p:blipFill>
        <p:spPr>
          <a:xfrm>
            <a:off x="4772025" y="1722980"/>
            <a:ext cx="7043981" cy="435306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ADDB8-A1C7-39DF-6649-982C07262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Fed “seeks to achieve inflation at the rate of 2 percent over the longer run…”</a:t>
            </a:r>
            <a:r>
              <a:rPr lang="en-US" baseline="30000" dirty="0"/>
              <a:t>1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Fed has not achieved their target</a:t>
            </a:r>
            <a:r>
              <a:rPr lang="en-US" dirty="0"/>
              <a:t>. </a:t>
            </a:r>
          </a:p>
          <a:p>
            <a:r>
              <a:rPr lang="en-US" dirty="0"/>
              <a:t>Over the last 25 years: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annual inflation:  </a:t>
            </a:r>
            <a:r>
              <a:rPr lang="en-US" b="1" dirty="0"/>
              <a:t>2.5%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16 years had inflation rates above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Cumulative inflation over target is 14.5%</a:t>
            </a:r>
            <a:r>
              <a:rPr lang="en-US" dirty="0"/>
              <a:t> over the last 25 years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2D3C0-AB6C-B038-8153-54C008E6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7" y="6400800"/>
            <a:ext cx="5543427" cy="182562"/>
          </a:xfrm>
        </p:spPr>
        <p:txBody>
          <a:bodyPr/>
          <a:lstStyle/>
          <a:p>
            <a:r>
              <a:rPr lang="en-US" dirty="0"/>
              <a:t>1. https://www.federalreserve.gov/economy-at-a-glance-inflation-pce.htm</a:t>
            </a:r>
          </a:p>
        </p:txBody>
      </p:sp>
    </p:spTree>
    <p:extLst>
      <p:ext uri="{BB962C8B-B14F-4D97-AF65-F5344CB8AC3E}">
        <p14:creationId xmlns:p14="http://schemas.microsoft.com/office/powerpoint/2010/main" val="173155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DE973-2D4F-90FC-55AF-C36CA275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E08C-FF0F-9370-C242-9B8AD8D4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Unemployment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45464D5-AED7-6823-03AA-AA12BE7A0F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9" r="89"/>
          <a:stretch/>
        </p:blipFill>
        <p:spPr>
          <a:xfrm>
            <a:off x="4772025" y="1722980"/>
            <a:ext cx="7043981" cy="435306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53723-E378-4044-3475-AC34D8804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Fed seeks “to promote maximum employment…”</a:t>
            </a:r>
            <a:r>
              <a:rPr lang="en-US" baseline="30000" dirty="0"/>
              <a:t>1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Fed has performed relatively well in controlling unemployment</a:t>
            </a:r>
            <a:r>
              <a:rPr lang="en-US" dirty="0"/>
              <a:t>. </a:t>
            </a:r>
          </a:p>
          <a:p>
            <a:r>
              <a:rPr lang="en-US" dirty="0"/>
              <a:t>Over the last 25 years: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annual unemployment rate:  </a:t>
            </a:r>
            <a:r>
              <a:rPr lang="en-US" b="1" dirty="0"/>
              <a:t>5.5%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16 years had declines in the unemployment rate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8FEF3-4622-4CEB-A920-80D72C05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7" y="6400800"/>
            <a:ext cx="5543427" cy="182562"/>
          </a:xfrm>
        </p:spPr>
        <p:txBody>
          <a:bodyPr/>
          <a:lstStyle/>
          <a:p>
            <a:r>
              <a:rPr lang="en-US" dirty="0"/>
              <a:t>1. https://www.federalreserve.gov/economy-at-a-glance-unemployment-rate.htm</a:t>
            </a:r>
          </a:p>
        </p:txBody>
      </p:sp>
    </p:spTree>
    <p:extLst>
      <p:ext uri="{BB962C8B-B14F-4D97-AF65-F5344CB8AC3E}">
        <p14:creationId xmlns:p14="http://schemas.microsoft.com/office/powerpoint/2010/main" val="386798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D0CC-ED5A-65B8-92D6-D9D9BAE2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Fed Funds Rate</a:t>
            </a: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9FE3D27-C5A0-2486-4289-0A3329E15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520475"/>
            <a:ext cx="6172200" cy="38075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E40C8-5A6B-457A-C58B-C457245DC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Inflation is persistent, and difficult to control.</a:t>
            </a:r>
          </a:p>
          <a:p>
            <a:r>
              <a:rPr lang="en-US" dirty="0"/>
              <a:t>The Fed Funds Rate can be used to influence inflation and unemployment.</a:t>
            </a:r>
          </a:p>
          <a:p>
            <a:r>
              <a:rPr lang="en-US" dirty="0"/>
              <a:t>One way to consider The Feds ability to influence inflation and unemployment is to observe what happens during a financial crisis, specifically </a:t>
            </a:r>
            <a:r>
              <a:rPr lang="en-US" b="1" dirty="0"/>
              <a:t>the 2008 financial crisis </a:t>
            </a:r>
            <a:r>
              <a:rPr lang="en-US" dirty="0"/>
              <a:t>and </a:t>
            </a:r>
            <a:r>
              <a:rPr lang="en-US" b="1" dirty="0"/>
              <a:t>the 2020 Covid-caused financial crisis.</a:t>
            </a:r>
          </a:p>
        </p:txBody>
      </p:sp>
    </p:spTree>
    <p:extLst>
      <p:ext uri="{BB962C8B-B14F-4D97-AF65-F5344CB8AC3E}">
        <p14:creationId xmlns:p14="http://schemas.microsoft.com/office/powerpoint/2010/main" val="224187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DA53-8CE8-068A-301D-CAEF73DC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2008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C70B6D-88F1-5D52-DB37-189C7E8F9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97437" y="1260299"/>
            <a:ext cx="7031157" cy="43374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B387A-72F1-65D4-C1EA-849B4238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2008 highlight shows a potential Fed Fund Rate in action: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unemployment rises, the fed starts cutting the funds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brief spike in the inflation rate, during which time the Fed keep the funds rate steady, while unemployment rises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the crisis sets in, inflation falls and the Fed continues to cut the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Fed holds the rate at a very low level for a long time, inflation fluctuates as the markets recover, while unemployment slowly declines.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39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0984-6E71-16BE-AE4E-BC5FF605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8990-33C6-6D35-2B13-2B3E0BDF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57225"/>
          </a:xfrm>
        </p:spPr>
        <p:txBody>
          <a:bodyPr/>
          <a:lstStyle/>
          <a:p>
            <a:r>
              <a:rPr lang="en-US" dirty="0"/>
              <a:t>2020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F907E7-16A3-9F83-33BF-19C334A9B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97437" y="1260299"/>
            <a:ext cx="7031157" cy="43374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35EFB-C373-495B-C5FE-0B839083C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14425"/>
            <a:ext cx="3932237" cy="4754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2020 highlight shows a potential Fed Fund Rate in action: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Covid set in, unemployment skyrocketed, the fed cut the Funds rate rapidly to a very low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Fed held the rate at a low level for an extended period, as unemployment began to decline, inflation rose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Eventually, the Fed began to raise the Funds rate and there was a decline in the rate of inflation, while unemployment stabilized.</a:t>
            </a:r>
          </a:p>
          <a:p>
            <a:r>
              <a:rPr lang="en-US" dirty="0"/>
              <a:t>While monetary policy is a complex, interconnected process, the action in this progression indicates that </a:t>
            </a:r>
            <a:r>
              <a:rPr lang="en-US" b="1" dirty="0"/>
              <a:t>the Fed’s use of the Fund Rate is helping them achieve their mandate.</a:t>
            </a:r>
          </a:p>
        </p:txBody>
      </p:sp>
    </p:spTree>
    <p:extLst>
      <p:ext uri="{BB962C8B-B14F-4D97-AF65-F5344CB8AC3E}">
        <p14:creationId xmlns:p14="http://schemas.microsoft.com/office/powerpoint/2010/main" val="322996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483</Words>
  <Application>Microsoft Macintosh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The Fed Paradox: Inflation &amp; Employment</vt:lpstr>
      <vt:lpstr>Inflation &amp; Employment</vt:lpstr>
      <vt:lpstr>Inflation</vt:lpstr>
      <vt:lpstr>Unemployment</vt:lpstr>
      <vt:lpstr>Using the Fed Funds Rate</vt:lpstr>
      <vt:lpstr>2008</vt:lpstr>
      <vt:lpstr>2020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Maxfield Raynolds</dc:creator>
  <cp:lastModifiedBy>Maxfield Raynolds</cp:lastModifiedBy>
  <cp:revision>1</cp:revision>
  <dcterms:created xsi:type="dcterms:W3CDTF">2026-02-22T14:28:06Z</dcterms:created>
  <dcterms:modified xsi:type="dcterms:W3CDTF">2026-02-23T04:15:54Z</dcterms:modified>
</cp:coreProperties>
</file>