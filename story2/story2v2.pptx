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5" r:id="rId6"/>
    <p:sldId id="266" r:id="rId7"/>
    <p:sldId id="264" r:id="rId8"/>
    <p:sldId id="270" r:id="rId9"/>
    <p:sldId id="268" r:id="rId10"/>
    <p:sldId id="269" r:id="rId11"/>
    <p:sldId id="260" r:id="rId12"/>
    <p:sldId id="26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0"/>
    <p:restoredTop sz="87571"/>
  </p:normalViewPr>
  <p:slideViewPr>
    <p:cSldViewPr snapToGrid="0">
      <p:cViewPr varScale="1">
        <p:scale>
          <a:sx n="106" d="100"/>
          <a:sy n="106" d="100"/>
        </p:scale>
        <p:origin x="10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6B2F1-DCFA-1D43-8372-1981236FBC9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69F44-E0BE-E345-826A-71DA71D8D2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0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wanted to start by considering each element of the Fed’s mandate individually.</a:t>
            </a:r>
          </a:p>
          <a:p>
            <a:r>
              <a:rPr lang="en-US" dirty="0"/>
              <a:t>For inflation the Fed seeks to achieve a rate of 2 percent over the longer run.</a:t>
            </a:r>
            <a:br>
              <a:rPr lang="en-US" dirty="0"/>
            </a:br>
            <a:r>
              <a:rPr lang="en-US" dirty="0"/>
              <a:t>This chart shows the annual deviation above or below the target of 2%. by year.</a:t>
            </a:r>
          </a:p>
          <a:p>
            <a:r>
              <a:rPr lang="en-US" dirty="0"/>
              <a:t>The deviation has been over target 16of the last 25 years .</a:t>
            </a:r>
          </a:p>
          <a:p>
            <a:r>
              <a:rPr lang="en-US" dirty="0"/>
              <a:t>The deviation has been a cumulative 14.5% above target.</a:t>
            </a:r>
          </a:p>
          <a:p>
            <a:r>
              <a:rPr lang="en-US" dirty="0"/>
              <a:t>The average inflation over the last 25 years is 2.5%.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their own metrics they have not achieved their target.</a:t>
            </a:r>
          </a:p>
          <a:p>
            <a:r>
              <a:rPr lang="en-US" dirty="0"/>
              <a:t>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56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unemployment,</a:t>
            </a:r>
            <a:br>
              <a:rPr lang="en-US" dirty="0"/>
            </a:br>
            <a:r>
              <a:rPr lang="en-US" dirty="0"/>
              <a:t>the Fed has performed relatively well controlling unemployment. </a:t>
            </a:r>
            <a:br>
              <a:rPr lang="en-US" dirty="0"/>
            </a:br>
            <a:r>
              <a:rPr lang="en-US" dirty="0"/>
              <a:t>Here we see a chart of the unemployment deviation from the previous year, along with a line indicating the cumulative unemployment deviation.</a:t>
            </a:r>
          </a:p>
          <a:p>
            <a:r>
              <a:rPr lang="en-US" dirty="0"/>
              <a:t>In general we see that unemployment tends to increase in isolated spikes, and then declines at a slower rate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1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while, I explored the individual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18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91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B1A3-26A0-075E-7DD4-7A90DE94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BDF28-B983-5759-2170-378AD0AA3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81DEF-E1AB-9A1E-EE7A-4720F9757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wanted to start by considering each element of the Fed’s mandate individually.</a:t>
            </a:r>
          </a:p>
          <a:p>
            <a:r>
              <a:rPr lang="en-US" dirty="0"/>
              <a:t>For inflation the Fed seeks to achieve a rate of 2 percent over the longer run.</a:t>
            </a:r>
            <a:br>
              <a:rPr lang="en-US" dirty="0"/>
            </a:br>
            <a:r>
              <a:rPr lang="en-US" dirty="0"/>
              <a:t>By their own metrics they have not achieved their target.</a:t>
            </a:r>
          </a:p>
          <a:p>
            <a:r>
              <a:rPr lang="en-US" dirty="0"/>
              <a:t>This chart shows the annual deviation above or below the target of 2%.by year.</a:t>
            </a:r>
            <a:br>
              <a:rPr lang="en-US" dirty="0"/>
            </a:br>
            <a:r>
              <a:rPr lang="en-US" dirty="0"/>
              <a:t>On average annual inflation has been 2.5% and16 years of the last 25 years had inflation rates above target.</a:t>
            </a:r>
          </a:p>
          <a:p>
            <a:r>
              <a:rPr lang="en-US" dirty="0"/>
              <a:t>The line indicates the cumulative deviation from the target of 2%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9CBAA-17C8-8D92-2E78-677DF0B57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233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4E10F-A43E-27C1-219E-1C662D6A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F06E-C547-A97B-9248-97BAE8E3F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BB749-24E6-BFFF-00C4-13E06D33B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unemployment,</a:t>
            </a:r>
            <a:br>
              <a:rPr lang="en-US" dirty="0"/>
            </a:br>
            <a:r>
              <a:rPr lang="en-US" dirty="0"/>
              <a:t>the Fed has performed relatively well controlling unemployment. </a:t>
            </a:r>
            <a:br>
              <a:rPr lang="en-US" dirty="0"/>
            </a:br>
            <a:r>
              <a:rPr lang="en-US" dirty="0"/>
              <a:t>Here we see a chart of the unemployment deviation from the previous year, along with a line indicating the cumulative unemployment deviation.</a:t>
            </a:r>
          </a:p>
          <a:p>
            <a:r>
              <a:rPr lang="en-US" dirty="0"/>
              <a:t>In general we see that unemployment tends to increase in isolated spikes, and then declines at a slower rate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FE647-763F-75D6-5418-8C208BF71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69F44-E0BE-E345-826A-71DA71D8D21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2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762E-D174-7D87-A96B-563FAFD50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51FEC-C465-C329-2E0C-CBD08D760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44894-D71F-6E15-AB8C-AFDE0B18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E629-17BC-2ADC-160D-591858D4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6EE4-C331-15C1-9A04-428E7EA5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1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AD7C-8004-174F-25C4-352CFC1F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A2D92-AF97-DAA6-218C-BA065A1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02D0-F24F-7C00-F2BC-7EF2B12D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4972F-D421-6783-213D-6B627208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459D-39C1-EA7A-102B-74192C30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485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B7C9-9CA1-362D-B1BA-822C631E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66338-D025-ED8F-7609-BEE055B4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CA8CB-7A83-76BC-A355-1771B996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11CB-4709-8A22-31DF-A8FF17FD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E8921-4E6F-71F7-DF1E-D6B5D00E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90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BA42-2DAA-771C-E531-89FFC353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A79FD-FB6F-8633-8436-8F8EBC8FD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679C1-8192-5720-E9DC-6CADF728B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5CB11-FA4C-DE61-64BA-F5DB5F12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346C7-AECA-BD7E-A259-FFAC258C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9B853-9469-99F5-940C-7E039E0F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0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14E0-3450-1767-1664-6498D495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74B06-C6FE-C264-D503-AA7CD215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C362E-DFDE-3FB6-B20F-848688B76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D13FE-950D-5E0A-BF1B-8261E9A10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7BEF1-A6EA-6452-78D4-BA4B7A783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1EAE2-22C4-BDB1-BC64-6A1740D5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5DAEF-92B1-A263-B473-ECDCEF7B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6BD4A-A409-25C9-EE17-E11A0C0D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7737-3572-E5FE-D576-212ADA76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7860-FD6C-D4D5-5E43-AE13472F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D15F1-E5D6-151D-3B12-0BA4FE3E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F440B-A74E-C019-5A70-4D9DA1FF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7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81EFF-04B5-5DC0-7BED-3A00862A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1D8F76-DE52-DCB0-3E0F-0BA51C6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E55E-5A48-B867-D4AA-5467BD39D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7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87DC-6CB7-DCC7-8024-97229B3C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A8FF-721C-F938-833C-58FBF133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ADF2B-F6C4-45E1-2037-1C5B3028F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21923-2995-F307-8E15-99D0B9DA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C0B52-291B-F0C6-DC4F-9FEAFDDC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C1F18-7E93-5307-3D0C-613404FD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6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6006-AAB5-E5B4-6F46-7086DFEC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04D72-6080-4549-9FBE-168A26BA9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FAD1D-6BDE-DD09-8222-A74C9D158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B9CFE-B366-D72B-704A-AD8ECE62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8EBE4-34F7-C5F5-D2B6-F8E7EFA3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D5405-C21F-AF5C-A28C-987F88ED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1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50BA-746D-86B3-2FCF-93E94420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9EE4F-422B-C3C9-73CD-EBBE4FEE6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4D42-8859-F506-8A66-0E74DEF7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C0DB-0BAC-F7B1-93D6-DA379A7A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3A3F9-7F60-87CB-4AEB-35164184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8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A73F8-AAF0-F929-0F4D-71CAEC16E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80A6E-8B92-AE64-D570-B0387B807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F4EB6-F70D-4DE8-8166-9C055D58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A3D1-76F7-477F-2729-5571387B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F3D-7800-383D-D8D2-DEEE15ED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5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A334F-A1BF-9965-5C31-559C66D9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A0DE0-897E-CFBF-CA93-D492A910E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D766-A352-FF6D-7644-31BA6E246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82DDE-A2D8-E647-B7C4-54DBC0C27FC1}" type="datetimeFigureOut">
              <a:rPr lang="en-US" smtClean="0"/>
              <a:t>3/9/26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8798A-1E97-1FA2-99C7-65346C56D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6A0A-A285-097D-21E0-6121DCBFF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A1D4E-4CCA-5B46-8EE7-3380515252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9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84A5-642E-C3DD-0F70-CC767AA07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400" dirty="0"/>
              <a:t>The Fed Paradox: Inflation &amp; Employment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0718D-2E20-3CE6-9538-A1362784B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Maxfield Raynolds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Data 608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Story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February 22, 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Focus</a:t>
            </a:r>
            <a:r>
              <a:rPr lang="en-US" sz="1800"/>
              <a:t>: Chart </a:t>
            </a:r>
            <a:r>
              <a:rPr lang="en-US" sz="1800" dirty="0"/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372760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7985-EE75-DEDA-EEEE-51D6B071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/>
              <a:t>Inflation &amp; Employment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73966-61D6-3A1E-A4EC-E8FE7C47F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9977" y="457200"/>
            <a:ext cx="3932237" cy="531813"/>
          </a:xfrm>
        </p:spPr>
        <p:txBody>
          <a:bodyPr/>
          <a:lstStyle/>
          <a:p>
            <a:r>
              <a:rPr lang="en-US" b="1" dirty="0"/>
              <a:t>The Federal Reserve Bank </a:t>
            </a:r>
            <a:r>
              <a:rPr lang="en-US" dirty="0"/>
              <a:t>(The Fed) has a dual mandate:</a:t>
            </a:r>
          </a:p>
        </p:txBody>
      </p:sp>
      <p:pic>
        <p:nvPicPr>
          <p:cNvPr id="8" name="Picture Placeholder 7" descr="A graph of a graph showing the amount of unemployment rate&#10;&#10;AI-generated content may be incorrect.">
            <a:extLst>
              <a:ext uri="{FF2B5EF4-FFF2-40B4-BE49-F238E27FC236}">
                <a16:creationId xmlns:a16="http://schemas.microsoft.com/office/drawing/2014/main" id="{04412703-3E85-89D3-D337-58DE6E4180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1" t="12" r="-514"/>
          <a:stretch>
            <a:fillRect/>
          </a:stretch>
        </p:blipFill>
        <p:spPr bwMode="auto">
          <a:xfrm>
            <a:off x="839788" y="1123155"/>
            <a:ext cx="7467633" cy="458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B2EFC25-A010-4CDA-4361-4D7489866432}"/>
              </a:ext>
            </a:extLst>
          </p:cNvPr>
          <p:cNvGrpSpPr/>
          <p:nvPr/>
        </p:nvGrpSpPr>
        <p:grpSpPr>
          <a:xfrm>
            <a:off x="8307421" y="1575882"/>
            <a:ext cx="3268494" cy="875490"/>
            <a:chOff x="8307421" y="1575882"/>
            <a:chExt cx="3268494" cy="87549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7829D3B-D831-67DF-0194-7EBC962C3A11}"/>
                </a:ext>
              </a:extLst>
            </p:cNvPr>
            <p:cNvSpPr/>
            <p:nvPr/>
          </p:nvSpPr>
          <p:spPr>
            <a:xfrm>
              <a:off x="8307421" y="1575882"/>
              <a:ext cx="273527" cy="875490"/>
            </a:xfrm>
            <a:prstGeom prst="rightBrac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6BDBD4-5A39-88D9-32E1-BD859C451D04}"/>
                </a:ext>
              </a:extLst>
            </p:cNvPr>
            <p:cNvSpPr txBox="1"/>
            <p:nvPr/>
          </p:nvSpPr>
          <p:spPr>
            <a:xfrm>
              <a:off x="8704262" y="1752017"/>
              <a:ext cx="28716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Control </a:t>
              </a:r>
              <a:r>
                <a:rPr lang="en-US" sz="1400" dirty="0">
                  <a:solidFill>
                    <a:schemeClr val="accent6"/>
                  </a:solidFill>
                </a:rPr>
                <a:t>inflation</a:t>
              </a:r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, monitored with the </a:t>
              </a:r>
              <a:r>
                <a:rPr lang="en-US" sz="1400" dirty="0">
                  <a:solidFill>
                    <a:schemeClr val="accent6"/>
                  </a:solidFill>
                </a:rPr>
                <a:t>Consumer Price Index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BF65AA-7F67-610E-AF63-B3D78CF36B7E}"/>
              </a:ext>
            </a:extLst>
          </p:cNvPr>
          <p:cNvGrpSpPr/>
          <p:nvPr/>
        </p:nvGrpSpPr>
        <p:grpSpPr>
          <a:xfrm>
            <a:off x="8307421" y="2943422"/>
            <a:ext cx="3268494" cy="875490"/>
            <a:chOff x="8307421" y="2943422"/>
            <a:chExt cx="3268494" cy="875490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A65C587E-92C0-E0CF-B7C0-B88D1E1A9BB8}"/>
                </a:ext>
              </a:extLst>
            </p:cNvPr>
            <p:cNvSpPr/>
            <p:nvPr/>
          </p:nvSpPr>
          <p:spPr>
            <a:xfrm>
              <a:off x="8307421" y="2943422"/>
              <a:ext cx="273527" cy="875490"/>
            </a:xfrm>
            <a:prstGeom prst="rightBrac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B48375-569C-6781-F177-9C2F5CA27970}"/>
                </a:ext>
              </a:extLst>
            </p:cNvPr>
            <p:cNvSpPr txBox="1"/>
            <p:nvPr/>
          </p:nvSpPr>
          <p:spPr>
            <a:xfrm>
              <a:off x="8704262" y="3225241"/>
              <a:ext cx="28716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Minimize </a:t>
              </a:r>
              <a:r>
                <a:rPr lang="en-US" sz="1400" dirty="0">
                  <a:solidFill>
                    <a:srgbClr val="C00000"/>
                  </a:solidFill>
                </a:rPr>
                <a:t>unemployment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0583CC-AA9E-63F7-0B2C-A047E0B17EB0}"/>
              </a:ext>
            </a:extLst>
          </p:cNvPr>
          <p:cNvGrpSpPr/>
          <p:nvPr/>
        </p:nvGrpSpPr>
        <p:grpSpPr>
          <a:xfrm>
            <a:off x="8307421" y="4331171"/>
            <a:ext cx="3327055" cy="875490"/>
            <a:chOff x="8307421" y="4331171"/>
            <a:chExt cx="3327055" cy="875490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142E9891-C362-2B3F-0996-26755A882BBA}"/>
                </a:ext>
              </a:extLst>
            </p:cNvPr>
            <p:cNvSpPr/>
            <p:nvPr/>
          </p:nvSpPr>
          <p:spPr>
            <a:xfrm>
              <a:off x="8307421" y="4331171"/>
              <a:ext cx="273527" cy="875490"/>
            </a:xfrm>
            <a:prstGeom prst="rightBrac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318D22-6CD2-98FF-5848-6189FB366DA0}"/>
                </a:ext>
              </a:extLst>
            </p:cNvPr>
            <p:cNvSpPr txBox="1"/>
            <p:nvPr/>
          </p:nvSpPr>
          <p:spPr>
            <a:xfrm>
              <a:off x="8704262" y="4615027"/>
              <a:ext cx="2930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By adjusting the </a:t>
              </a:r>
              <a:r>
                <a:rPr lang="en-US" sz="1400" dirty="0">
                  <a:solidFill>
                    <a:schemeClr val="accent5"/>
                  </a:solidFill>
                </a:rPr>
                <a:t>Federal Funds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41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B0FF-FFC6-8CB7-7CC2-FE79310C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Inflation</a:t>
            </a:r>
          </a:p>
        </p:txBody>
      </p:sp>
      <p:pic>
        <p:nvPicPr>
          <p:cNvPr id="8" name="Picture Placeholder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69CA36F0-BC30-2B44-700A-648AAB151B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-138" t="33" r="347"/>
          <a:stretch>
            <a:fillRect/>
          </a:stretch>
        </p:blipFill>
        <p:spPr>
          <a:xfrm>
            <a:off x="1984959" y="1154351"/>
            <a:ext cx="8222080" cy="508110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2D3C0-AB6C-B038-8153-54C008E6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https://www.federalreserve.gov/economy-at-a-glance-inflation-pce.htm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918E0-BD03-9E67-C95C-C667A004657D}"/>
              </a:ext>
            </a:extLst>
          </p:cNvPr>
          <p:cNvSpPr txBox="1"/>
          <p:nvPr/>
        </p:nvSpPr>
        <p:spPr>
          <a:xfrm>
            <a:off x="9361204" y="1154351"/>
            <a:ext cx="2779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Cumulative deviation over target is 14.5%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48F0E0D-45A4-63CE-8777-78F55DF18528}"/>
              </a:ext>
            </a:extLst>
          </p:cNvPr>
          <p:cNvSpPr txBox="1">
            <a:spLocks/>
          </p:cNvSpPr>
          <p:nvPr/>
        </p:nvSpPr>
        <p:spPr>
          <a:xfrm>
            <a:off x="2450976" y="457200"/>
            <a:ext cx="3932237" cy="5318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Fed “seeks to achieve inflation at the rate of 2 percent over the longer run…”</a:t>
            </a:r>
            <a:r>
              <a:rPr lang="en-US" baseline="30000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933A27-805E-9AEF-4E4B-EF4475DD5E75}"/>
              </a:ext>
            </a:extLst>
          </p:cNvPr>
          <p:cNvGrpSpPr/>
          <p:nvPr/>
        </p:nvGrpSpPr>
        <p:grpSpPr>
          <a:xfrm>
            <a:off x="9756796" y="3216612"/>
            <a:ext cx="2295911" cy="1382557"/>
            <a:chOff x="9604259" y="3190672"/>
            <a:chExt cx="2295911" cy="1382557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EE9B134A-98F0-2BDA-00F6-2D8583F5C530}"/>
                </a:ext>
              </a:extLst>
            </p:cNvPr>
            <p:cNvSpPr/>
            <p:nvPr/>
          </p:nvSpPr>
          <p:spPr>
            <a:xfrm>
              <a:off x="9604259" y="3190672"/>
              <a:ext cx="273527" cy="1382557"/>
            </a:xfrm>
            <a:prstGeom prst="rightBrac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B245A7-AF07-C1C4-43FC-880E50F1B08A}"/>
                </a:ext>
              </a:extLst>
            </p:cNvPr>
            <p:cNvSpPr txBox="1"/>
            <p:nvPr/>
          </p:nvSpPr>
          <p:spPr>
            <a:xfrm>
              <a:off x="9993549" y="3620340"/>
              <a:ext cx="19066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Deviation over target 16 of the last 25 years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7C09D96-0D02-4E0F-F007-E4956C402144}"/>
              </a:ext>
            </a:extLst>
          </p:cNvPr>
          <p:cNvSpPr txBox="1"/>
          <p:nvPr/>
        </p:nvSpPr>
        <p:spPr>
          <a:xfrm>
            <a:off x="2503250" y="1050339"/>
            <a:ext cx="3592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Average inflation over the last 25 years: 2.5%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61AC6C-AB18-0E91-3E81-2AB2A54CFCE9}"/>
              </a:ext>
            </a:extLst>
          </p:cNvPr>
          <p:cNvSpPr txBox="1"/>
          <p:nvPr/>
        </p:nvSpPr>
        <p:spPr>
          <a:xfrm>
            <a:off x="2503250" y="1440785"/>
            <a:ext cx="3592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Fed has not achieved their goal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15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E973-2D4F-90FC-55AF-C36CA275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E08C-FF0F-9370-C242-9B8AD8D4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Unemployment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45464D5-AED7-6823-03AA-AA12BE7A0FA9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/>
          <a:srcRect l="89" r="89"/>
          <a:stretch/>
        </p:blipFill>
        <p:spPr>
          <a:xfrm>
            <a:off x="1985772" y="1152874"/>
            <a:ext cx="8220456" cy="508406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53723-E378-4044-3475-AC34D8804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7740" y="521041"/>
            <a:ext cx="3932237" cy="53181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The Fed seeks “to promote maximum employment…”</a:t>
            </a:r>
            <a:r>
              <a:rPr lang="en-US" baseline="30000" dirty="0">
                <a:solidFill>
                  <a:schemeClr val="bg2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8FEF3-4622-4CEB-A920-80D72C05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https://www.federalreserve.gov/economy-at-a-glance-unemployment-rate.htm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90D2307-ED4E-A8DC-0AB9-4FC867EBC05C}"/>
              </a:ext>
            </a:extLst>
          </p:cNvPr>
          <p:cNvGrpSpPr/>
          <p:nvPr/>
        </p:nvGrpSpPr>
        <p:grpSpPr>
          <a:xfrm>
            <a:off x="9972877" y="4393906"/>
            <a:ext cx="1859925" cy="761753"/>
            <a:chOff x="9972877" y="4393906"/>
            <a:chExt cx="1859925" cy="761753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24456169-2E88-7E40-E788-BACE6C74072D}"/>
                </a:ext>
              </a:extLst>
            </p:cNvPr>
            <p:cNvSpPr/>
            <p:nvPr/>
          </p:nvSpPr>
          <p:spPr>
            <a:xfrm>
              <a:off x="9972877" y="4393906"/>
              <a:ext cx="233351" cy="761753"/>
            </a:xfrm>
            <a:prstGeom prst="rightBrac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A186E0-1EA9-023D-1486-67672E783D9B}"/>
                </a:ext>
              </a:extLst>
            </p:cNvPr>
            <p:cNvSpPr txBox="1"/>
            <p:nvPr/>
          </p:nvSpPr>
          <p:spPr>
            <a:xfrm>
              <a:off x="10206228" y="4405450"/>
              <a:ext cx="16265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>
                      <a:lumMod val="75000"/>
                    </a:schemeClr>
                  </a:solidFill>
                </a:rPr>
                <a:t>Decreases in unemployment 16 of the last 25 years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03D25FC-8356-BB67-EC05-11E177D4A37F}"/>
              </a:ext>
            </a:extLst>
          </p:cNvPr>
          <p:cNvSpPr txBox="1"/>
          <p:nvPr/>
        </p:nvSpPr>
        <p:spPr>
          <a:xfrm>
            <a:off x="6833930" y="1147644"/>
            <a:ext cx="336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Fed has done a relatively good job controlling unemployment.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F6E65-17CD-9101-77E4-4993B2CC3FD4}"/>
              </a:ext>
            </a:extLst>
          </p:cNvPr>
          <p:cNvSpPr txBox="1"/>
          <p:nvPr/>
        </p:nvSpPr>
        <p:spPr>
          <a:xfrm>
            <a:off x="3487740" y="1147644"/>
            <a:ext cx="3365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Average unemployment: 5.5%</a:t>
            </a:r>
          </a:p>
        </p:txBody>
      </p:sp>
    </p:spTree>
    <p:extLst>
      <p:ext uri="{BB962C8B-B14F-4D97-AF65-F5344CB8AC3E}">
        <p14:creationId xmlns:p14="http://schemas.microsoft.com/office/powerpoint/2010/main" val="386798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44BB-C269-2446-0A6E-7BA756B5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48E3-9606-F0C2-B809-C10B1181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542850" cy="560962"/>
          </a:xfrm>
        </p:spPr>
        <p:txBody>
          <a:bodyPr>
            <a:normAutofit fontScale="90000"/>
          </a:bodyPr>
          <a:lstStyle/>
          <a:p>
            <a:r>
              <a:rPr lang="en-US" dirty="0"/>
              <a:t>The Fed Funds Rate In Action</a:t>
            </a: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04C59F5-FDB5-1FA8-2BFB-5C6489764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6538" y="1480971"/>
            <a:ext cx="6172200" cy="38075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44C6B-97BB-19D4-0071-873FC8B83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18162"/>
            <a:ext cx="5052006" cy="30966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Does the Funds Rate play a role in correcting a financial crisis?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4C2F0E-76B6-3DF1-01C6-1290F611CEE6}"/>
              </a:ext>
            </a:extLst>
          </p:cNvPr>
          <p:cNvSpPr/>
          <p:nvPr/>
        </p:nvSpPr>
        <p:spPr>
          <a:xfrm>
            <a:off x="4611430" y="1869643"/>
            <a:ext cx="575877" cy="3570972"/>
          </a:xfrm>
          <a:prstGeom prst="rect">
            <a:avLst/>
          </a:prstGeom>
          <a:solidFill>
            <a:schemeClr val="bg2">
              <a:alpha val="25888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6497F-63F5-EC13-CE23-84AB868684D7}"/>
              </a:ext>
            </a:extLst>
          </p:cNvPr>
          <p:cNvSpPr/>
          <p:nvPr/>
        </p:nvSpPr>
        <p:spPr>
          <a:xfrm>
            <a:off x="6966939" y="1869643"/>
            <a:ext cx="1147158" cy="3570972"/>
          </a:xfrm>
          <a:prstGeom prst="rect">
            <a:avLst/>
          </a:prstGeom>
          <a:solidFill>
            <a:schemeClr val="bg2">
              <a:alpha val="25888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81C80-E4D8-3DC8-C34E-9705EF4CB4B8}"/>
              </a:ext>
            </a:extLst>
          </p:cNvPr>
          <p:cNvSpPr txBox="1"/>
          <p:nvPr/>
        </p:nvSpPr>
        <p:spPr>
          <a:xfrm>
            <a:off x="4133156" y="5598454"/>
            <a:ext cx="1532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2008 financial crisis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2BE9B-65DB-D8C1-7D47-7936942DDF91}"/>
              </a:ext>
            </a:extLst>
          </p:cNvPr>
          <p:cNvSpPr txBox="1"/>
          <p:nvPr/>
        </p:nvSpPr>
        <p:spPr>
          <a:xfrm>
            <a:off x="6774306" y="5598454"/>
            <a:ext cx="1532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The COVID caused financial crisis</a:t>
            </a:r>
          </a:p>
        </p:txBody>
      </p:sp>
    </p:spTree>
    <p:extLst>
      <p:ext uri="{BB962C8B-B14F-4D97-AF65-F5344CB8AC3E}">
        <p14:creationId xmlns:p14="http://schemas.microsoft.com/office/powerpoint/2010/main" val="285199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AF36-1F23-1E52-1FCC-EC3354A8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1ABF-013E-7F45-1048-9ED21A61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/>
              <a:t>2008 Financial Crisis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A852E3-CC9A-548E-92F0-04DD06E84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549073" y="989012"/>
            <a:ext cx="8803139" cy="5430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4CEC4B-3904-AFB5-A483-011A883DBE1F}"/>
              </a:ext>
            </a:extLst>
          </p:cNvPr>
          <p:cNvSpPr txBox="1"/>
          <p:nvPr/>
        </p:nvSpPr>
        <p:spPr>
          <a:xfrm>
            <a:off x="5437034" y="2238116"/>
            <a:ext cx="3020253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4. Unemployment continues to rise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1A572C-A120-E19D-B4C7-A0A9777D51CE}"/>
              </a:ext>
            </a:extLst>
          </p:cNvPr>
          <p:cNvCxnSpPr>
            <a:cxnSpLocks/>
          </p:cNvCxnSpPr>
          <p:nvPr/>
        </p:nvCxnSpPr>
        <p:spPr>
          <a:xfrm flipH="1">
            <a:off x="4830295" y="2392004"/>
            <a:ext cx="606739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2308D3F-B01A-979F-456D-05AAB0F839A7}"/>
              </a:ext>
            </a:extLst>
          </p:cNvPr>
          <p:cNvSpPr txBox="1"/>
          <p:nvPr/>
        </p:nvSpPr>
        <p:spPr>
          <a:xfrm>
            <a:off x="1923968" y="4552122"/>
            <a:ext cx="1776485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2. The Fed cuts rates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12DB8C-96EE-CADF-B2C4-577D5F450F50}"/>
              </a:ext>
            </a:extLst>
          </p:cNvPr>
          <p:cNvCxnSpPr>
            <a:cxnSpLocks/>
          </p:cNvCxnSpPr>
          <p:nvPr/>
        </p:nvCxnSpPr>
        <p:spPr>
          <a:xfrm flipV="1">
            <a:off x="2921982" y="4114800"/>
            <a:ext cx="1025718" cy="43334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F08670-566F-1728-8B31-BD85626228EF}"/>
              </a:ext>
            </a:extLst>
          </p:cNvPr>
          <p:cNvSpPr txBox="1"/>
          <p:nvPr/>
        </p:nvSpPr>
        <p:spPr>
          <a:xfrm>
            <a:off x="5626667" y="3036193"/>
            <a:ext cx="2908336" cy="52322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3. Inflation increases at first, then markets collapse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E25830-9B57-FCD3-6650-69D6118F8552}"/>
              </a:ext>
            </a:extLst>
          </p:cNvPr>
          <p:cNvCxnSpPr>
            <a:cxnSpLocks/>
          </p:cNvCxnSpPr>
          <p:nvPr/>
        </p:nvCxnSpPr>
        <p:spPr>
          <a:xfrm flipH="1" flipV="1">
            <a:off x="4480438" y="3224254"/>
            <a:ext cx="1146229" cy="7354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B071417-C9D2-BF5A-F340-0F9F32FF3E2E}"/>
              </a:ext>
            </a:extLst>
          </p:cNvPr>
          <p:cNvSpPr txBox="1"/>
          <p:nvPr/>
        </p:nvSpPr>
        <p:spPr>
          <a:xfrm>
            <a:off x="1923968" y="5054541"/>
            <a:ext cx="2684974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5. The Fed continues to cut rates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DC9168E-4BB0-8073-A0D0-2120D27910B8}"/>
              </a:ext>
            </a:extLst>
          </p:cNvPr>
          <p:cNvCxnSpPr>
            <a:cxnSpLocks/>
          </p:cNvCxnSpPr>
          <p:nvPr/>
        </p:nvCxnSpPr>
        <p:spPr>
          <a:xfrm flipV="1">
            <a:off x="3434841" y="4639586"/>
            <a:ext cx="1120254" cy="410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290D5BC-6E20-3071-D4A0-683475821FD2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626232" y="3297803"/>
            <a:ext cx="1000435" cy="40646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3C4B77-8284-A458-6D43-60E5D93932F4}"/>
              </a:ext>
            </a:extLst>
          </p:cNvPr>
          <p:cNvSpPr txBox="1"/>
          <p:nvPr/>
        </p:nvSpPr>
        <p:spPr>
          <a:xfrm>
            <a:off x="1345955" y="2425483"/>
            <a:ext cx="2684974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1. Unemployment begins to rise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244DD2-FC38-78C1-20B8-B153480571FF}"/>
              </a:ext>
            </a:extLst>
          </p:cNvPr>
          <p:cNvCxnSpPr>
            <a:cxnSpLocks/>
          </p:cNvCxnSpPr>
          <p:nvPr/>
        </p:nvCxnSpPr>
        <p:spPr>
          <a:xfrm>
            <a:off x="2619825" y="2735248"/>
            <a:ext cx="1327875" cy="489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73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24" grpId="0" animBg="1"/>
      <p:bldP spid="33" grpId="0" animBg="1"/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984-6E71-16BE-AE4E-BC5FF605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8990-33C6-6D35-2B13-2B3E0BDF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6125" cy="657225"/>
          </a:xfrm>
        </p:spPr>
        <p:txBody>
          <a:bodyPr>
            <a:normAutofit fontScale="90000"/>
          </a:bodyPr>
          <a:lstStyle/>
          <a:p>
            <a:r>
              <a:rPr lang="en-US" dirty="0"/>
              <a:t>2020 COVID Financial Crisis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F907E7-16A3-9F83-33BF-19C334A9B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072710" y="1132890"/>
            <a:ext cx="8539561" cy="52679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F5F8A4-3B40-1EC2-BBF0-52221FC11366}"/>
              </a:ext>
            </a:extLst>
          </p:cNvPr>
          <p:cNvSpPr txBox="1"/>
          <p:nvPr/>
        </p:nvSpPr>
        <p:spPr>
          <a:xfrm>
            <a:off x="455409" y="2266457"/>
            <a:ext cx="2684974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1. Unemployment skyrockets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CF72BA-761C-4208-6FA6-BFA8FDBD5B49}"/>
              </a:ext>
            </a:extLst>
          </p:cNvPr>
          <p:cNvCxnSpPr>
            <a:cxnSpLocks/>
          </p:cNvCxnSpPr>
          <p:nvPr/>
        </p:nvCxnSpPr>
        <p:spPr>
          <a:xfrm>
            <a:off x="1729279" y="2576222"/>
            <a:ext cx="1657977" cy="73152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AF7657-8F1F-618C-A63C-822116BC1F59}"/>
              </a:ext>
            </a:extLst>
          </p:cNvPr>
          <p:cNvSpPr txBox="1"/>
          <p:nvPr/>
        </p:nvSpPr>
        <p:spPr>
          <a:xfrm>
            <a:off x="145511" y="5837747"/>
            <a:ext cx="2684974" cy="52322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2. The Fed cuts already low rates to very low levels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31072A-D64D-8DF3-BC1E-BF9DC74E2055}"/>
              </a:ext>
            </a:extLst>
          </p:cNvPr>
          <p:cNvCxnSpPr>
            <a:cxnSpLocks/>
          </p:cNvCxnSpPr>
          <p:nvPr/>
        </p:nvCxnSpPr>
        <p:spPr>
          <a:xfrm flipV="1">
            <a:off x="1510748" y="5725110"/>
            <a:ext cx="1812897" cy="11909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7D9242-17E8-D4A6-828F-40A44656DD2F}"/>
              </a:ext>
            </a:extLst>
          </p:cNvPr>
          <p:cNvSpPr txBox="1"/>
          <p:nvPr/>
        </p:nvSpPr>
        <p:spPr>
          <a:xfrm>
            <a:off x="3421772" y="6099357"/>
            <a:ext cx="2684974" cy="52322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3. Inflation initially drops, then rises while the Fed Rate is low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09B15A-17F6-8155-5DBA-D35D001D3732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253948" y="5049078"/>
            <a:ext cx="510311" cy="10502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01B674-C211-6DD4-1D7E-0DF091049BE7}"/>
              </a:ext>
            </a:extLst>
          </p:cNvPr>
          <p:cNvSpPr txBox="1"/>
          <p:nvPr/>
        </p:nvSpPr>
        <p:spPr>
          <a:xfrm>
            <a:off x="4191353" y="2472617"/>
            <a:ext cx="2684974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4. Unemployment comes down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ACFF8A-0414-5155-0789-B90E1BBE2195}"/>
              </a:ext>
            </a:extLst>
          </p:cNvPr>
          <p:cNvCxnSpPr>
            <a:cxnSpLocks/>
          </p:cNvCxnSpPr>
          <p:nvPr/>
        </p:nvCxnSpPr>
        <p:spPr>
          <a:xfrm flipV="1">
            <a:off x="4031311" y="2798859"/>
            <a:ext cx="1343771" cy="10880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FCB57A6-DD19-DEEC-5045-7838BB181212}"/>
              </a:ext>
            </a:extLst>
          </p:cNvPr>
          <p:cNvSpPr txBox="1"/>
          <p:nvPr/>
        </p:nvSpPr>
        <p:spPr>
          <a:xfrm>
            <a:off x="6531885" y="5571221"/>
            <a:ext cx="2684974" cy="52322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5. The Fed begins to raise the rate again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46FBE7-C0A7-5C10-A0FB-96DC85BBB7D7}"/>
              </a:ext>
            </a:extLst>
          </p:cNvPr>
          <p:cNvCxnSpPr>
            <a:cxnSpLocks/>
          </p:cNvCxnSpPr>
          <p:nvPr/>
        </p:nvCxnSpPr>
        <p:spPr>
          <a:xfrm>
            <a:off x="5326221" y="5391717"/>
            <a:ext cx="1177946" cy="33339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127F0E4-A2D0-3D5B-5812-EE2D26B7497F}"/>
              </a:ext>
            </a:extLst>
          </p:cNvPr>
          <p:cNvSpPr txBox="1"/>
          <p:nvPr/>
        </p:nvSpPr>
        <p:spPr>
          <a:xfrm>
            <a:off x="5718513" y="3171182"/>
            <a:ext cx="2684974" cy="30777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6. Inflation comes down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4A0971E-883C-CBC9-3502-F0D1F1285D8E}"/>
              </a:ext>
            </a:extLst>
          </p:cNvPr>
          <p:cNvCxnSpPr>
            <a:cxnSpLocks/>
          </p:cNvCxnSpPr>
          <p:nvPr/>
        </p:nvCxnSpPr>
        <p:spPr>
          <a:xfrm flipV="1">
            <a:off x="5478449" y="3325071"/>
            <a:ext cx="212346" cy="49937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BC00FBF-2E51-B844-9849-FBD7312F8D0D}"/>
              </a:ext>
            </a:extLst>
          </p:cNvPr>
          <p:cNvSpPr txBox="1"/>
          <p:nvPr/>
        </p:nvSpPr>
        <p:spPr>
          <a:xfrm>
            <a:off x="7013050" y="1017767"/>
            <a:ext cx="3599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Feds use </a:t>
            </a:r>
            <a:r>
              <a:rPr lang="en-US" dirty="0"/>
              <a:t>of the Funds Rate does appear to aid in achieving their dual mandate.</a:t>
            </a:r>
          </a:p>
        </p:txBody>
      </p:sp>
    </p:spTree>
    <p:extLst>
      <p:ext uri="{BB962C8B-B14F-4D97-AF65-F5344CB8AC3E}">
        <p14:creationId xmlns:p14="http://schemas.microsoft.com/office/powerpoint/2010/main" val="322996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6" grpId="0" animBg="1"/>
      <p:bldP spid="23" grpId="0" animBg="1"/>
      <p:bldP spid="34" grpId="0" animBg="1"/>
      <p:bldP spid="39" grpId="0" animBg="1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1473-02A7-96B1-3AFA-B4B9B336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0846-6D50-8D67-21C4-11AFBDDD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/>
              <a:t>Inflation &amp; Employment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77121-191F-91F0-F035-EA51F1545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The Federal Reserve Bank </a:t>
            </a:r>
            <a:r>
              <a:rPr lang="en-US" dirty="0"/>
              <a:t>(The Fed) has a dual mandate: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Control inflation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Maximize employment </a:t>
            </a:r>
            <a:r>
              <a:rPr lang="en-US" dirty="0"/>
              <a:t>(minimize unemployment)</a:t>
            </a:r>
          </a:p>
          <a:p>
            <a:r>
              <a:rPr lang="en-US" dirty="0"/>
              <a:t>Influenced by the Department of Labor’s </a:t>
            </a:r>
            <a:r>
              <a:rPr lang="en-US" dirty="0">
                <a:solidFill>
                  <a:srgbClr val="00B050"/>
                </a:solidFill>
              </a:rPr>
              <a:t>Consumer Price Index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Unemployment Rate</a:t>
            </a:r>
            <a:r>
              <a:rPr lang="en-US" dirty="0"/>
              <a:t>, The Fed’s primary tool for achieving its mandate is controlling the </a:t>
            </a:r>
            <a:r>
              <a:rPr lang="en-US" dirty="0">
                <a:solidFill>
                  <a:srgbClr val="7030A0"/>
                </a:solidFill>
              </a:rPr>
              <a:t>The Fed Funds Rate.</a:t>
            </a:r>
          </a:p>
          <a:p>
            <a:endParaRPr lang="en-US" dirty="0"/>
          </a:p>
          <a:p>
            <a:r>
              <a:rPr lang="en-US" b="1" dirty="0"/>
              <a:t>Over the last 25 years has The Fed been able to achieve this dual mandate?</a:t>
            </a:r>
          </a:p>
        </p:txBody>
      </p:sp>
      <p:pic>
        <p:nvPicPr>
          <p:cNvPr id="8" name="Picture Placeholder 7" descr="A graph of a graph showing the amount of unemployment rate&#10;&#10;AI-generated content may be incorrect.">
            <a:extLst>
              <a:ext uri="{FF2B5EF4-FFF2-40B4-BE49-F238E27FC236}">
                <a16:creationId xmlns:a16="http://schemas.microsoft.com/office/drawing/2014/main" id="{74C80390-FD5D-49F9-316E-14922539CDB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1" t="12" r="-514"/>
          <a:stretch>
            <a:fillRect/>
          </a:stretch>
        </p:blipFill>
        <p:spPr bwMode="auto">
          <a:xfrm>
            <a:off x="4772025" y="1257300"/>
            <a:ext cx="6823017" cy="41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23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0369-6B75-FDAF-0F36-412DC557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829E-C948-06CC-1703-1B6DE557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Inflation</a:t>
            </a:r>
          </a:p>
        </p:txBody>
      </p:sp>
      <p:pic>
        <p:nvPicPr>
          <p:cNvPr id="8" name="Picture Placeholder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C34051C0-8294-7EBA-BB41-98B34DF4C5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-138" t="33" r="347"/>
          <a:stretch>
            <a:fillRect/>
          </a:stretch>
        </p:blipFill>
        <p:spPr>
          <a:xfrm>
            <a:off x="4772025" y="1722980"/>
            <a:ext cx="7043981" cy="43530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24D1C-9C0D-957E-01A1-12F712780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Fed “seeks to achieve inflation at the rate of 2 percent over the longer run…”</a:t>
            </a:r>
            <a:r>
              <a:rPr lang="en-US" baseline="30000" dirty="0"/>
              <a:t>1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Fed has not achieved their target</a:t>
            </a:r>
            <a:r>
              <a:rPr lang="en-US" dirty="0"/>
              <a:t>. </a:t>
            </a:r>
          </a:p>
          <a:p>
            <a:r>
              <a:rPr lang="en-US" dirty="0"/>
              <a:t>Over the last 25 years: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annual inflation:  </a:t>
            </a:r>
            <a:r>
              <a:rPr lang="en-US" b="1" dirty="0"/>
              <a:t>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16 years had inflation rates above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Cumulative inflation over target is 14.5%</a:t>
            </a:r>
            <a:r>
              <a:rPr lang="en-US" dirty="0"/>
              <a:t> over the last 25 years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F4E6-ABC5-8997-57FD-2A330F9C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https://www.federalreserve.gov/economy-at-a-glance-inflation-pce.htm</a:t>
            </a:r>
          </a:p>
        </p:txBody>
      </p:sp>
    </p:spTree>
    <p:extLst>
      <p:ext uri="{BB962C8B-B14F-4D97-AF65-F5344CB8AC3E}">
        <p14:creationId xmlns:p14="http://schemas.microsoft.com/office/powerpoint/2010/main" val="292020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7DA2-68C5-9C3E-64C8-6792BD5C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B8B0-997D-7ACF-A524-822B7477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dirty="0"/>
              <a:t>Unemployment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D3AE524-BBE3-B10A-4443-9FD3DEEE41D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9" r="89"/>
          <a:stretch/>
        </p:blipFill>
        <p:spPr>
          <a:xfrm>
            <a:off x="4772025" y="1722980"/>
            <a:ext cx="7043981" cy="435306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057E7-3C3F-26AF-F991-901D88F58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9012"/>
            <a:ext cx="3932237" cy="3811588"/>
          </a:xfrm>
        </p:spPr>
        <p:txBody>
          <a:bodyPr/>
          <a:lstStyle/>
          <a:p>
            <a:r>
              <a:rPr lang="en-US" dirty="0"/>
              <a:t>The Fed seeks “to promote maximum employment…”</a:t>
            </a:r>
            <a:r>
              <a:rPr lang="en-US" baseline="30000" dirty="0"/>
              <a:t>1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Fed has performed relatively well in controlling unemployment</a:t>
            </a:r>
            <a:r>
              <a:rPr lang="en-US" dirty="0"/>
              <a:t>. </a:t>
            </a:r>
          </a:p>
          <a:p>
            <a:r>
              <a:rPr lang="en-US" dirty="0"/>
              <a:t>Over the last 25 years: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annual unemployment rate:  </a:t>
            </a:r>
            <a:r>
              <a:rPr lang="en-US" b="1" dirty="0"/>
              <a:t>5.5%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16 years had declines in the unemployment rate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59BC0-BA70-C3A9-DA58-E2512FD62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7" y="6400800"/>
            <a:ext cx="5543427" cy="182562"/>
          </a:xfrm>
        </p:spPr>
        <p:txBody>
          <a:bodyPr/>
          <a:lstStyle/>
          <a:p>
            <a:r>
              <a:rPr lang="en-US" dirty="0"/>
              <a:t>1. https://www.federalreserve.gov/economy-at-a-glance-unemployment-rate.htm</a:t>
            </a:r>
          </a:p>
        </p:txBody>
      </p:sp>
    </p:spTree>
    <p:extLst>
      <p:ext uri="{BB962C8B-B14F-4D97-AF65-F5344CB8AC3E}">
        <p14:creationId xmlns:p14="http://schemas.microsoft.com/office/powerpoint/2010/main" val="121466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D0CC-ED5A-65B8-92D6-D9D9BAE2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Fed Funds Rate</a:t>
            </a:r>
          </a:p>
        </p:txBody>
      </p:sp>
      <p:pic>
        <p:nvPicPr>
          <p:cNvPr id="6" name="Content Placeholder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9FE3D27-C5A0-2486-4289-0A3329E15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520475"/>
            <a:ext cx="6172200" cy="38075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E40C8-5A6B-457A-C58B-C457245DC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Inflation is persistent, and difficult to control.</a:t>
            </a:r>
          </a:p>
          <a:p>
            <a:r>
              <a:rPr lang="en-US" dirty="0"/>
              <a:t>The Fed Funds Rate can be used to influence inflation and unemployment.</a:t>
            </a:r>
          </a:p>
          <a:p>
            <a:r>
              <a:rPr lang="en-US" dirty="0"/>
              <a:t>One way to consider The Feds ability to influence inflation and unemployment is to observe what happens during a financial crisis, specifically </a:t>
            </a:r>
            <a:r>
              <a:rPr lang="en-US" b="1" dirty="0"/>
              <a:t>the 2008 financial crisis </a:t>
            </a:r>
            <a:r>
              <a:rPr lang="en-US" dirty="0"/>
              <a:t>and </a:t>
            </a:r>
            <a:r>
              <a:rPr lang="en-US" b="1" dirty="0"/>
              <a:t>the 2020 Covid-caused financial crisis.</a:t>
            </a:r>
          </a:p>
        </p:txBody>
      </p:sp>
    </p:spTree>
    <p:extLst>
      <p:ext uri="{BB962C8B-B14F-4D97-AF65-F5344CB8AC3E}">
        <p14:creationId xmlns:p14="http://schemas.microsoft.com/office/powerpoint/2010/main" val="224187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DA53-8CE8-068A-301D-CAEF73DC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2008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C70B6D-88F1-5D52-DB37-189C7E8F9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97437" y="1260299"/>
            <a:ext cx="7031157" cy="43374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B387A-72F1-65D4-C1EA-849B4238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2008 highlight shows a potential Fed Fund Rate in action: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unemployment rises, the fed starts cutting the funds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brief spike in the inflation rate, during which time the Fed keep the funds rate steady, while unemployment rises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the crisis sets in, inflation falls and the Fed continues to cut the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Fed holds the rate at a very low level for a long time, inflation fluctuates as the markets recover, while unemployment slowly declines.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391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0984-6E71-16BE-AE4E-BC5FF605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8990-33C6-6D35-2B13-2B3E0BDF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57225"/>
          </a:xfrm>
        </p:spPr>
        <p:txBody>
          <a:bodyPr/>
          <a:lstStyle/>
          <a:p>
            <a:r>
              <a:rPr lang="en-US" dirty="0"/>
              <a:t>2020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F907E7-16A3-9F83-33BF-19C334A9B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97437" y="1260299"/>
            <a:ext cx="7031157" cy="43374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35EFB-C373-495B-C5FE-0B839083C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14425"/>
            <a:ext cx="3932237" cy="4754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2020 highlight shows a potential Fed Fund Rate in action: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Covid set in, unemployment skyrocketed, the fed cut the Funds rate rapidly to a very low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Fed held the rate at a low level for an extended period, as unemployment began to decline, inflation rose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Eventually, the Fed began to raise the Funds rate and there was a decline in the rate of inflation, while unemployment stabilized.</a:t>
            </a:r>
          </a:p>
          <a:p>
            <a:r>
              <a:rPr lang="en-US" dirty="0"/>
              <a:t>While monetary policy is a complex, interconnected process, the action in this progression indicates that </a:t>
            </a:r>
            <a:r>
              <a:rPr lang="en-US" b="1" dirty="0"/>
              <a:t>the Fed’s use of the Fund Rate is helping them achieve their mandate.</a:t>
            </a:r>
          </a:p>
        </p:txBody>
      </p:sp>
    </p:spTree>
    <p:extLst>
      <p:ext uri="{BB962C8B-B14F-4D97-AF65-F5344CB8AC3E}">
        <p14:creationId xmlns:p14="http://schemas.microsoft.com/office/powerpoint/2010/main" val="244772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3656</TotalTime>
  <Words>1098</Words>
  <Application>Microsoft Macintosh PowerPoint</Application>
  <PresentationFormat>Widescreen</PresentationFormat>
  <Paragraphs>104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The Fed Paradox: Inflation &amp; Employment</vt:lpstr>
      <vt:lpstr>Inflation &amp; Employment</vt:lpstr>
      <vt:lpstr>Inflation</vt:lpstr>
      <vt:lpstr>Unemployment</vt:lpstr>
      <vt:lpstr>The Fed Funds Rate In Action</vt:lpstr>
      <vt:lpstr>2008 Financial Crisis</vt:lpstr>
      <vt:lpstr>2020 COVID Financial Crisis</vt:lpstr>
      <vt:lpstr>Inflation &amp; Employment</vt:lpstr>
      <vt:lpstr>Inflation</vt:lpstr>
      <vt:lpstr>Unemployment</vt:lpstr>
      <vt:lpstr>Using the Fed Funds Rate</vt:lpstr>
      <vt:lpstr>2008</vt:lpstr>
      <vt:lpstr>2020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6</cp:revision>
  <dcterms:created xsi:type="dcterms:W3CDTF">2026-02-22T14:28:06Z</dcterms:created>
  <dcterms:modified xsi:type="dcterms:W3CDTF">2026-03-09T05:21:08Z</dcterms:modified>
</cp:coreProperties>
</file>