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9"/>
    <p:restoredTop sz="94691"/>
  </p:normalViewPr>
  <p:slideViewPr>
    <p:cSldViewPr snapToGrid="0">
      <p:cViewPr>
        <p:scale>
          <a:sx n="213" d="100"/>
          <a:sy n="213" d="100"/>
        </p:scale>
        <p:origin x="1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B1C6-385E-9515-3614-F0D9C7DDA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492EBB-B130-54DD-4681-7A96F78F9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E0819-7896-4B28-1685-2E7E8D8FC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F49ED-1394-BFD6-F145-407C85C39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B637E-15C1-26AB-B1F6-138DCFB7B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9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95FD-B57A-3AA2-1FEE-2D5FAC99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97E5A-CE11-51D4-380C-3D4580F07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7C5D9-7731-79B2-D367-11B9096E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FF71D-6E23-15F6-A2E9-469E59FE0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EA4E3-DAC2-F77F-926E-8CC76CAE0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347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0C6A-C32F-E314-A808-CE97CF8B8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37B0B-E1C6-4349-3AAA-1907EA526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4F3E4-7439-8D28-DF03-87D15A558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97A60-1A0E-1968-07BF-3E5126AA2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DDFF3-BACE-3F08-471B-BA7AF393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1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E1145-1E4F-14F3-D688-9FC7BEC58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CF126-4352-45EC-AD06-3C1B4D4A5F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12119-15ED-4AF1-A412-6A2C61D58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74FBF-9612-75F1-2C0A-1558DEEF7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677BFE-45C3-F71B-F0C7-7EC1B331C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F076E-EAEA-5D5A-0AD7-23FEBD84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2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4BA72-9F9D-875A-B7FC-06BAB854C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52354-E210-A752-291D-EA5BE8788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0FBEA7-49FD-CF65-1185-D76AF7D69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F4AE6D-DF75-5030-F084-60B785839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D3CD9F-019A-5957-A1D9-A6E9B8AFB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DAFD1-C9F1-8577-2E6A-54EB3F3A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CE7B86-59FA-11BF-E22F-3B15CAC3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B43EE2-EF1E-B08E-09E9-19283F77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57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F7F45-F7AB-E3D1-2362-70E8996BC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319A7-13E9-F867-9218-DDFB681C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2A5CC-0B24-5D7F-9617-295A0DE0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0F18A7-7C21-B836-A63F-C2B80F88A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49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F5B07-7E3D-FBB2-7C24-95105884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EC941-913E-20D8-0545-57BB3B7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29BD0D-22AD-B567-096F-4261C6F7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85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6DDDC-6D22-B2DD-7319-E7291588A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DE19E-4D24-8B05-6CF4-249B5B04C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62DAB-2399-AF5C-C7F8-3BD9B9FB4E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EA595-260E-2E8E-A838-A6528420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3C8D6-6859-2DCB-26A9-06FE6EFBD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F4BC1-F123-96BC-D3A2-A5E9AD6D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45C3-3A50-7D2B-187A-3DCD0503D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F2A352-A748-7F07-D0ED-797955FF61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423E8-BECE-AAB1-7CCA-6F88C1713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5FE340-E514-F3BE-1A65-78E851CE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24128-E257-5FEB-3558-BA2757AB1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86EBF-FA9C-91E2-C680-74B40147E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9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790DF-0939-0119-0783-7A95AA4EE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D6935-EF3F-ABCC-8A0E-B217082CE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6799E-8BA3-EB2D-F029-16DFEAEA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3C107-1197-FBB5-4C0D-95DA8A58A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2B5B1-4A48-6B5A-39F4-631069CD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6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439146-0ECA-E4D2-4594-E2F6EF9F98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CD9F6-8BF1-BDC2-6763-D3042E099F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44895-D17D-4501-8877-90B07E39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9DB76-1574-D8EA-7F6E-9F81DEA6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BC14A-87D3-D843-2049-69C87083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753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5CF1F-9FD1-AC87-3AB9-54B6CE10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5580E-5F92-9EDC-49B0-9E88EA1A5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0A0DD-95AF-5430-0203-9C032762BB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6FF3B-15B1-5941-9BD3-EA1D120FD011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F87A-CEC5-4A26-E7F3-0B452E5E9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F3592-D617-716E-EB42-5FF0B2C72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E50584-D9EA-D54E-BFC9-869013B70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031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FBA46-AE8A-4DE5-A4DB-461ADC288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19088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What Does Data Pay?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47DC7-1644-7C5A-7BB5-9611DA9789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Story 4</a:t>
            </a:r>
          </a:p>
          <a:p>
            <a:pPr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Maxfield Raynolds</a:t>
            </a:r>
          </a:p>
          <a:p>
            <a:pPr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Data 608</a:t>
            </a:r>
          </a:p>
          <a:p>
            <a:pPr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Spring 2026</a:t>
            </a:r>
          </a:p>
          <a:p>
            <a:pPr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Chart selection</a:t>
            </a:r>
          </a:p>
        </p:txBody>
      </p:sp>
    </p:spTree>
    <p:extLst>
      <p:ext uri="{BB962C8B-B14F-4D97-AF65-F5344CB8AC3E}">
        <p14:creationId xmlns:p14="http://schemas.microsoft.com/office/powerpoint/2010/main" val="2257914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AD437-A16A-24D2-72D0-16A4DA937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153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What do data jobs pay when compared to the national average pay?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453553-6570-942B-4D6A-119FB7D2C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599" y="1260390"/>
            <a:ext cx="7699744" cy="54192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158854-85F1-6F14-7566-65C0B52F0A7C}"/>
              </a:ext>
            </a:extLst>
          </p:cNvPr>
          <p:cNvSpPr txBox="1"/>
          <p:nvPr/>
        </p:nvSpPr>
        <p:spPr>
          <a:xfrm>
            <a:off x="388472" y="3231349"/>
            <a:ext cx="40819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To analyze wages, SOC codes were collected from the Bureau of Labor Statistics and assigned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to four data related job categories: Data Analytics, Data Science, Data Engineering, and Machine Learning/Advanced Research.</a:t>
            </a:r>
          </a:p>
        </p:txBody>
      </p:sp>
    </p:spTree>
    <p:extLst>
      <p:ext uri="{BB962C8B-B14F-4D97-AF65-F5344CB8AC3E}">
        <p14:creationId xmlns:p14="http://schemas.microsoft.com/office/powerpoint/2010/main" val="163578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C5C26-07EE-17A0-CD1F-859CD00D3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DFF0F48-A2E9-88B1-1A42-4C768387BC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361" y="400076"/>
            <a:ext cx="12089278" cy="60578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F62AF6-6EE4-B2A7-A30B-3FA9B19303B0}"/>
              </a:ext>
            </a:extLst>
          </p:cNvPr>
          <p:cNvSpPr txBox="1"/>
          <p:nvPr/>
        </p:nvSpPr>
        <p:spPr>
          <a:xfrm>
            <a:off x="6512312" y="400076"/>
            <a:ext cx="4415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When compared,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data roles pay higher than the national average.</a:t>
            </a:r>
          </a:p>
        </p:txBody>
      </p:sp>
    </p:spTree>
    <p:extLst>
      <p:ext uri="{BB962C8B-B14F-4D97-AF65-F5344CB8AC3E}">
        <p14:creationId xmlns:p14="http://schemas.microsoft.com/office/powerpoint/2010/main" val="335900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E3C3-99A0-83E3-0C29-3294FA18D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350A29-24DF-8A4C-EEB6-1A1B1C6ED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74" t="78" r="1" b="-85"/>
          <a:stretch>
            <a:fillRect/>
          </a:stretch>
        </p:blipFill>
        <p:spPr>
          <a:xfrm>
            <a:off x="0" y="480494"/>
            <a:ext cx="5943600" cy="5386748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BCB2B833-F879-68A9-A1F0-5F5CFB7A76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471569"/>
            <a:ext cx="5943600" cy="53956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074AA2-BD47-8B21-5892-215ECE5FC4AB}"/>
              </a:ext>
            </a:extLst>
          </p:cNvPr>
          <p:cNvSpPr txBox="1"/>
          <p:nvPr/>
        </p:nvSpPr>
        <p:spPr>
          <a:xfrm>
            <a:off x="4189955" y="480494"/>
            <a:ext cx="3507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Data Analytics &amp; Data Science: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Average Salary by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A6378E-E355-AF17-C2C6-12BA0BDE3E46}"/>
              </a:ext>
            </a:extLst>
          </p:cNvPr>
          <p:cNvSpPr txBox="1"/>
          <p:nvPr/>
        </p:nvSpPr>
        <p:spPr>
          <a:xfrm>
            <a:off x="5707079" y="5774567"/>
            <a:ext cx="6095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Data Analytics and Data Science have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a range of $50,000 and $70,000 each from the lowest paying to the highest paying state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, on average.</a:t>
            </a:r>
          </a:p>
        </p:txBody>
      </p:sp>
    </p:spTree>
    <p:extLst>
      <p:ext uri="{BB962C8B-B14F-4D97-AF65-F5344CB8AC3E}">
        <p14:creationId xmlns:p14="http://schemas.microsoft.com/office/powerpoint/2010/main" val="3172423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89013-7513-5A08-E8F5-85A2A8C13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F1133ED-701E-A315-6CCC-F289444779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242" b="1103"/>
          <a:stretch>
            <a:fillRect/>
          </a:stretch>
        </p:blipFill>
        <p:spPr>
          <a:xfrm>
            <a:off x="0" y="784648"/>
            <a:ext cx="5943600" cy="5248406"/>
          </a:xfrm>
          <a:prstGeom prst="rect">
            <a:avLst/>
          </a:prstGeom>
        </p:spPr>
      </p:pic>
      <p:pic>
        <p:nvPicPr>
          <p:cNvPr id="11" name="Content Placeholder 5">
            <a:extLst>
              <a:ext uri="{FF2B5EF4-FFF2-40B4-BE49-F238E27FC236}">
                <a16:creationId xmlns:a16="http://schemas.microsoft.com/office/drawing/2014/main" id="{49A9A523-9452-831D-1C68-087E1B7A7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00" y="262174"/>
            <a:ext cx="5943600" cy="57708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61EB84-B378-F5E5-D831-8A4ABBDB33A1}"/>
              </a:ext>
            </a:extLst>
          </p:cNvPr>
          <p:cNvSpPr txBox="1"/>
          <p:nvPr/>
        </p:nvSpPr>
        <p:spPr>
          <a:xfrm>
            <a:off x="3809999" y="262174"/>
            <a:ext cx="4572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Data Engineering &amp; ML/Advanced Research:</a:t>
            </a:r>
          </a:p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Average Salary by State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7E660-CDEA-A7D7-099C-C02EE5B58D8C}"/>
              </a:ext>
            </a:extLst>
          </p:cNvPr>
          <p:cNvSpPr txBox="1"/>
          <p:nvPr/>
        </p:nvSpPr>
        <p:spPr>
          <a:xfrm>
            <a:off x="5707079" y="5774567"/>
            <a:ext cx="6095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Data Engineering and  ML/Advanced Research have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a range of $70,000 and $120,000 each from the lowest paying to the highest paying state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, on average.</a:t>
            </a:r>
          </a:p>
        </p:txBody>
      </p:sp>
    </p:spTree>
    <p:extLst>
      <p:ext uri="{BB962C8B-B14F-4D97-AF65-F5344CB8AC3E}">
        <p14:creationId xmlns:p14="http://schemas.microsoft.com/office/powerpoint/2010/main" val="175455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709EE-C141-2697-079F-AD4998E7F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B9EE79-A28B-3D77-579B-9640720A02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429" y="1360851"/>
            <a:ext cx="9433142" cy="49138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7357D8-78F6-D8C7-5ACB-916C20747655}"/>
              </a:ext>
            </a:extLst>
          </p:cNvPr>
          <p:cNvSpPr txBox="1"/>
          <p:nvPr/>
        </p:nvSpPr>
        <p:spPr>
          <a:xfrm>
            <a:off x="890914" y="583307"/>
            <a:ext cx="52827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In all states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the data practitioner’s average salary is higher on average than the state’s average salary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07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177</Words>
  <Application>Microsoft Macintosh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What Does Data Pay?</vt:lpstr>
      <vt:lpstr>What do data jobs pay when compared to the national average pay?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Maxfield Raynolds</dc:creator>
  <cp:lastModifiedBy>Maxfield Raynolds</cp:lastModifiedBy>
  <cp:revision>2</cp:revision>
  <dcterms:created xsi:type="dcterms:W3CDTF">2026-03-23T03:49:16Z</dcterms:created>
  <dcterms:modified xsi:type="dcterms:W3CDTF">2026-03-23T12:51:14Z</dcterms:modified>
</cp:coreProperties>
</file>