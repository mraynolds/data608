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8"/>
    <p:restoredTop sz="94677"/>
  </p:normalViewPr>
  <p:slideViewPr>
    <p:cSldViewPr snapToGrid="0">
      <p:cViewPr>
        <p:scale>
          <a:sx n="123" d="100"/>
          <a:sy n="123" d="100"/>
        </p:scale>
        <p:origin x="144" y="2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B0D29-597F-E883-7C94-30B91BA8B2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A099B0-2E2A-5D3A-38B5-617582085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ADAD2-E48F-74E9-9F0A-AF054A40B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9EC1-DB5A-2544-AFAF-44271ABD6709}" type="datetimeFigureOut">
              <a:rPr lang="en-US" smtClean="0"/>
              <a:t>2/7/26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8C36C-539E-943F-EF45-83C4B7CCD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1ECEB-4A86-42D6-0AA1-696292AD3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1415-3192-0545-A6C5-D851650114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025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69210-8CEA-8851-164F-095AAB6D3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A4B75-45D7-2A8B-6A64-DA0147C59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AD96A-3D7F-8229-3106-D456D747B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9EC1-DB5A-2544-AFAF-44271ABD6709}" type="datetimeFigureOut">
              <a:rPr lang="en-US" smtClean="0"/>
              <a:t>2/7/26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188FA-A469-B752-3046-353F438AB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BD014-9070-2221-8800-38E2BCCF6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1415-3192-0545-A6C5-D851650114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076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2F7FA-2636-C112-9D22-6C0D63E19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4FB24-DCE0-7C7F-310D-ABEC93301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29E39-C21F-A659-0544-A7F9C1D3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9EC1-DB5A-2544-AFAF-44271ABD6709}" type="datetimeFigureOut">
              <a:rPr lang="en-US" smtClean="0"/>
              <a:t>2/7/26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D3CB9-C6F6-CE45-B765-0D7C0705C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6AD9E-1E63-BDC0-6CE7-CC4DAE888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1415-3192-0545-A6C5-D851650114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525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43F09-2C35-2A9F-A81A-EF375F691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808D6-E850-1DAC-A702-588274A3AC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3749BE-9B27-48EB-7015-921AE4934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21E620-2D00-DC03-8D74-313DB145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9EC1-DB5A-2544-AFAF-44271ABD6709}" type="datetimeFigureOut">
              <a:rPr lang="en-US" smtClean="0"/>
              <a:t>2/7/26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3D500-B0AF-795B-8F62-EA505CF42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341DA-6722-F8C8-0DB8-787F26C20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1415-3192-0545-A6C5-D851650114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408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8949E-CBF5-3A77-A87D-B422FEAE4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683AB-D829-0006-0F05-CCA2FBFAF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96A7FB-0F0F-4A53-013B-B78C7A38A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D408C-C2C0-48CE-112D-7CAE7B7A6A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533743-5806-4F68-7819-63F68B9B9A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BE780D-73AA-0863-42AD-44929C418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9EC1-DB5A-2544-AFAF-44271ABD6709}" type="datetimeFigureOut">
              <a:rPr lang="en-US" smtClean="0"/>
              <a:t>2/7/26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64BAB3-5894-CA6D-42F1-AAD23AE54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E037D5-0280-6851-E72D-D248E8834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1415-3192-0545-A6C5-D851650114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278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BC0AC-2053-36C5-C745-C1B3F2056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E60106-A55E-3A77-CFCA-942F680B7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9EC1-DB5A-2544-AFAF-44271ABD6709}" type="datetimeFigureOut">
              <a:rPr lang="en-US" smtClean="0"/>
              <a:t>2/7/26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E4653-30E5-032E-E7F9-BEBEAB4B5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64DD1-D90A-8A13-B9A1-5E7EE749C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1415-3192-0545-A6C5-D851650114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825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7D52E2-0B92-5F5F-FD56-7EE089F0F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9EC1-DB5A-2544-AFAF-44271ABD6709}" type="datetimeFigureOut">
              <a:rPr lang="en-US" smtClean="0"/>
              <a:t>2/7/26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C39D4B-568D-7C02-373D-79D37B82C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19EC8-402A-D393-E2CD-293B18E42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1415-3192-0545-A6C5-D851650114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853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19E94-96EB-1CB5-00BB-4E3C2A0F7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EB29D-2782-C60E-E06F-D1B184FBC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EAA835-1D9F-E9DE-26A1-2FCFE1770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5E4C1-0598-CE55-99D0-B54788498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9EC1-DB5A-2544-AFAF-44271ABD6709}" type="datetimeFigureOut">
              <a:rPr lang="en-US" smtClean="0"/>
              <a:t>2/7/26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56209-706A-AE29-1E72-8C6B51CFC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8EF9E-7E84-0C2E-8C67-4ED927D00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1415-3192-0545-A6C5-D851650114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979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71FCB-1E20-BA79-DF34-A2E5E60B4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0524AB-90C9-44C9-A20C-EABFFD6BAB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250B2-3BE7-0EBC-B9BB-1379C729D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D9B4E-8DF7-144C-48CE-05F930B57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9EC1-DB5A-2544-AFAF-44271ABD6709}" type="datetimeFigureOut">
              <a:rPr lang="en-US" smtClean="0"/>
              <a:t>2/7/26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38A72-94BB-566E-8009-AE5F667A3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61B8F7-D11B-985D-B80A-86106B644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1415-3192-0545-A6C5-D851650114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189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25A4A-F4B1-A811-5BF3-55D1A1566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99A3D5-C4C8-7279-D1E4-3418B30CD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C02-3D75-5F29-415E-CD48CD876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9EC1-DB5A-2544-AFAF-44271ABD6709}" type="datetimeFigureOut">
              <a:rPr lang="en-US" smtClean="0"/>
              <a:t>2/7/26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8BD4C-F24C-260F-6817-8B1589C7F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0D75F-0C7B-51DC-335C-092141F5B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1415-3192-0545-A6C5-D851650114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380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21961B-5C0F-EE17-3DA8-0D97A09895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2D8E50-5BF9-F340-3A6E-AB2D5E241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CD322-6923-C4F3-E554-7D7A21B23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9EC1-DB5A-2544-AFAF-44271ABD6709}" type="datetimeFigureOut">
              <a:rPr lang="en-US" smtClean="0"/>
              <a:t>2/7/26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3281E-B07C-6E82-99AE-83889FBEA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CF985-FECB-A451-255C-BFCFC2874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1415-3192-0545-A6C5-D851650114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036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0347C2-2DB7-1779-25FD-612C12958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9A657-FE03-4726-CCDD-C544F2554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82248-587B-6672-EF5A-1EB35027A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259EC1-DB5A-2544-AFAF-44271ABD6709}" type="datetimeFigureOut">
              <a:rPr lang="en-US" smtClean="0"/>
              <a:t>2/7/26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6CA18-DB6A-8D43-D602-9731B67104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8CF8D-8319-ECC5-7DF2-30C4AE215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B71415-3192-0545-A6C5-D851650114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186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378F1-39FA-CE6E-8592-1513921838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Bias in the Infrastructure Investment &amp; Jobs Act Funding Allocation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EF6C2-FAE6-FA81-2719-EEEF0C59CF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Maxfield Raynolds</a:t>
            </a:r>
          </a:p>
          <a:p>
            <a:pPr algn="l"/>
            <a:r>
              <a:rPr lang="en-US" dirty="0"/>
              <a:t>Data 608</a:t>
            </a:r>
          </a:p>
        </p:txBody>
      </p:sp>
    </p:spTree>
    <p:extLst>
      <p:ext uri="{BB962C8B-B14F-4D97-AF65-F5344CB8AC3E}">
        <p14:creationId xmlns:p14="http://schemas.microsoft.com/office/powerpoint/2010/main" val="1671979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A4D6A-CC80-A2CA-3A91-CFEA70DC2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59E1A5-49D0-F63F-3326-5422ECD8A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there bias in IIJA spending?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83B6A4-F0A9-06F3-20D1-35D189916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10512424" cy="3811587"/>
          </a:xfrm>
        </p:spPr>
        <p:txBody>
          <a:bodyPr>
            <a:normAutofit/>
          </a:bodyPr>
          <a:lstStyle/>
          <a:p>
            <a:r>
              <a:rPr lang="en-US" dirty="0"/>
              <a:t>In 2020 Joe Biden defeated Donald Trump for the Presidency  of the United States of America. Biden was the candidate for the Democratic Party.</a:t>
            </a:r>
          </a:p>
          <a:p>
            <a:r>
              <a:rPr lang="en-US" dirty="0"/>
              <a:t>One of his signature pieces of legislation was the Infrastructure Investment &amp; Jobs Funding Act (IIJA).</a:t>
            </a:r>
          </a:p>
          <a:p>
            <a:r>
              <a:rPr lang="en-US" dirty="0"/>
              <a:t>Has spending from the IIJA been equitable or has it disproportionately benefited the states that were called for Biden in 2020?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551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E553D-3BAA-6A89-72DE-806420150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03F3D6-F926-53D4-52AF-B76968DCC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there bias in IIJA spending?</a:t>
            </a:r>
          </a:p>
        </p:txBody>
      </p:sp>
      <p:pic>
        <p:nvPicPr>
          <p:cNvPr id="8" name="Content Placeholder 7" descr="A red white and blue flag&#10;&#10;AI-generated content may be incorrect.">
            <a:extLst>
              <a:ext uri="{FF2B5EF4-FFF2-40B4-BE49-F238E27FC236}">
                <a16:creationId xmlns:a16="http://schemas.microsoft.com/office/drawing/2014/main" id="{861CDB03-CB5B-906A-A50C-5B7C780E3F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2025" y="1430245"/>
            <a:ext cx="6954249" cy="399751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612280-9FD9-4592-18DB-0CC7010A6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62645"/>
            <a:ext cx="3932237" cy="3406342"/>
          </a:xfrm>
        </p:spPr>
        <p:txBody>
          <a:bodyPr>
            <a:normAutofit/>
          </a:bodyPr>
          <a:lstStyle/>
          <a:p>
            <a:r>
              <a:rPr lang="en-US" dirty="0"/>
              <a:t>When spending is totaled, </a:t>
            </a:r>
            <a:r>
              <a:rPr lang="en-US" b="1" dirty="0"/>
              <a:t>more money has been spent overall in states that were called for Biden in 2020.</a:t>
            </a:r>
          </a:p>
          <a:p>
            <a:r>
              <a:rPr lang="en-US" dirty="0"/>
              <a:t>However, this does not immediately mean there is bias.</a:t>
            </a:r>
          </a:p>
        </p:txBody>
      </p:sp>
    </p:spTree>
    <p:extLst>
      <p:ext uri="{BB962C8B-B14F-4D97-AF65-F5344CB8AC3E}">
        <p14:creationId xmlns:p14="http://schemas.microsoft.com/office/powerpoint/2010/main" val="3837396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2E9F9-2D59-F646-B0DF-E1EA38319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AD87F8-8C0F-9279-4CA1-EA4D7E605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there bias in IIJA spending?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198093-42FA-1B03-C2C3-47F38DBBE6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66554"/>
            <a:ext cx="3932237" cy="3302433"/>
          </a:xfrm>
        </p:spPr>
        <p:txBody>
          <a:bodyPr/>
          <a:lstStyle/>
          <a:p>
            <a:r>
              <a:rPr lang="en-US" dirty="0"/>
              <a:t>Considering spending plotted against population, spending appears generally proportional to population, regardless of party. </a:t>
            </a:r>
          </a:p>
          <a:p>
            <a:r>
              <a:rPr lang="en-US" dirty="0"/>
              <a:t>This is to say generally, </a:t>
            </a:r>
            <a:r>
              <a:rPr lang="en-US" b="1" dirty="0"/>
              <a:t>the larger the population, the more money the state received, regardless of party.</a:t>
            </a:r>
          </a:p>
        </p:txBody>
      </p:sp>
      <p:pic>
        <p:nvPicPr>
          <p:cNvPr id="7" name="Content Placeholder 6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315B27C3-AF66-DFFE-DF6F-0646CDEC5B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44642" y="724331"/>
            <a:ext cx="6419019" cy="514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675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62B9B-D26D-8B24-C060-FFC7A839A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FD162D-C698-D1AF-4D84-21C85CE3C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there bias in IIJA spending?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076CE7D-FE28-FCDC-1974-4E618681D8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946929" y="1430245"/>
            <a:ext cx="6954249" cy="399751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454DDD-3407-E397-C4BF-453603E4E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66554"/>
            <a:ext cx="3932237" cy="3302433"/>
          </a:xfrm>
        </p:spPr>
        <p:txBody>
          <a:bodyPr/>
          <a:lstStyle/>
          <a:p>
            <a:r>
              <a:rPr lang="en-US" dirty="0"/>
              <a:t>When spending is considered per capita,</a:t>
            </a:r>
          </a:p>
          <a:p>
            <a:r>
              <a:rPr lang="en-US" dirty="0"/>
              <a:t>spending was </a:t>
            </a:r>
            <a:r>
              <a:rPr lang="en-US" b="1" dirty="0"/>
              <a:t>greater per person in states that were called for the Republican party </a:t>
            </a:r>
            <a:r>
              <a:rPr lang="en-US" dirty="0"/>
              <a:t>in the 2020 presidential election </a:t>
            </a:r>
          </a:p>
        </p:txBody>
      </p:sp>
    </p:spTree>
    <p:extLst>
      <p:ext uri="{BB962C8B-B14F-4D97-AF65-F5344CB8AC3E}">
        <p14:creationId xmlns:p14="http://schemas.microsoft.com/office/powerpoint/2010/main" val="1446701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15246-50D4-7EA4-CF9C-ECA38E7E2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C68C69-B932-F04E-8FA6-DA0DD4849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there bias in IIJA spending?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61BA6D-E725-1E85-D589-90A03D6CF0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66554"/>
            <a:ext cx="3932237" cy="3302433"/>
          </a:xfrm>
        </p:spPr>
        <p:txBody>
          <a:bodyPr/>
          <a:lstStyle/>
          <a:p>
            <a:r>
              <a:rPr lang="en-US" dirty="0"/>
              <a:t>When spending is considered per capita, </a:t>
            </a:r>
            <a:r>
              <a:rPr lang="en-US" b="1" dirty="0"/>
              <a:t>the top four</a:t>
            </a:r>
            <a:r>
              <a:rPr lang="en-US" dirty="0"/>
              <a:t>, and most disproportionate, </a:t>
            </a:r>
            <a:r>
              <a:rPr lang="en-US" b="1" dirty="0"/>
              <a:t>per capita spending </a:t>
            </a:r>
            <a:r>
              <a:rPr lang="en-US" dirty="0"/>
              <a:t>was </a:t>
            </a:r>
            <a:r>
              <a:rPr lang="en-US" b="1" dirty="0"/>
              <a:t>in states that voted Republican.</a:t>
            </a:r>
          </a:p>
          <a:p>
            <a:endParaRPr lang="en-US" dirty="0"/>
          </a:p>
          <a:p>
            <a:r>
              <a:rPr lang="en-US" dirty="0"/>
              <a:t>Considering the per capita spending in the IIJA, </a:t>
            </a:r>
            <a:r>
              <a:rPr lang="en-US" b="1" dirty="0"/>
              <a:t>there is no indication of bias</a:t>
            </a:r>
            <a:r>
              <a:rPr lang="en-US" dirty="0"/>
              <a:t>.</a:t>
            </a:r>
          </a:p>
        </p:txBody>
      </p:sp>
      <p:pic>
        <p:nvPicPr>
          <p:cNvPr id="7" name="Content Placeholder 6" descr="A graph of red and blue stripes&#10;&#10;AI-generated content may be incorrect.">
            <a:extLst>
              <a:ext uri="{FF2B5EF4-FFF2-40B4-BE49-F238E27FC236}">
                <a16:creationId xmlns:a16="http://schemas.microsoft.com/office/drawing/2014/main" id="{129AEE3E-B383-E37A-D7A3-1B7C446514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40363" y="197410"/>
            <a:ext cx="4406434" cy="646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287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</TotalTime>
  <Words>253</Words>
  <Application>Microsoft Macintosh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Bias in the Infrastructure Investment &amp; Jobs Act Funding Allocation</vt:lpstr>
      <vt:lpstr>Is there bias in IIJA spending?</vt:lpstr>
      <vt:lpstr>Is there bias in IIJA spending?</vt:lpstr>
      <vt:lpstr>Is there bias in IIJA spending?</vt:lpstr>
      <vt:lpstr>Is there bias in IIJA spending?</vt:lpstr>
      <vt:lpstr>Is there bias in IIJA spending?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Maxfield Raynolds</dc:creator>
  <cp:lastModifiedBy>Maxfield Raynolds</cp:lastModifiedBy>
  <cp:revision>3</cp:revision>
  <dcterms:created xsi:type="dcterms:W3CDTF">2026-02-08T02:38:32Z</dcterms:created>
  <dcterms:modified xsi:type="dcterms:W3CDTF">2026-02-08T18:34:16Z</dcterms:modified>
</cp:coreProperties>
</file>