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55"/>
    <p:restoredTop sz="94658"/>
  </p:normalViewPr>
  <p:slideViewPr>
    <p:cSldViewPr snapToGrid="0">
      <p:cViewPr>
        <p:scale>
          <a:sx n="127" d="100"/>
          <a:sy n="127" d="100"/>
        </p:scale>
        <p:origin x="912" y="-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AA5BF-C756-7E37-E616-C2C518EA8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060C0-ADB2-4704-E85F-81098007C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15CA96-E698-D9FC-0FFE-74E1FBE3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D9DDE-5EEA-5BF1-F664-21270630A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EBDB0-6355-1ABE-DC08-D2A306919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772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D5356-DC94-1034-E3AD-F290D14D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9DDD5-437B-BB09-4D4E-A73FBD192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F75E4-4C26-876F-C6F4-464B9BFA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38D6E1-2EAE-8AFC-1FA8-F631BF6A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08F0-77F8-81D3-2753-1EB619291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A7BDD-6E78-8044-301B-BD4E6F039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7E9CA-A726-7F9F-A31B-E23C2CF4A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6A255-E5E1-0670-AF5E-364C28E70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37CE4-E3A1-B488-C698-30719D25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ECD78-9CFE-D3A3-9BB9-A16813B6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44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30EF-BC43-2463-5763-F8D13D016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20C0E-BC20-3A77-7179-290518596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143D7E-E183-5F8B-4C50-41E8AFFEA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5C745-F5FF-E720-17F4-634E9BAB9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9939CD-8B51-2858-02B0-7BFAFDCD9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61DB25-6382-A6B3-4F87-37F56C2F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98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68DD-2110-1FC8-2D63-B703E747B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5AD48-2391-D911-8806-0E31C9CD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8ECCB-AFAE-BD11-9581-05ACC25E6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FCB3F0-0F35-4B5E-71E6-B5A8AF19DD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C4DDC9-8FD7-DAD2-D83F-64FDE87588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6E829-CC22-ED9B-1181-F35EEF40B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7DC2F2-26FC-4DD2-675F-86EA2B582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2CA05-7905-9F42-069A-898F6486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241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3D89F-639F-2B80-2EDB-2E3BEA19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6C8350-B573-41E8-C81D-952C361C4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B4EB40-A8EB-A03A-3543-FE8A3DB0C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906D99-9B51-E072-F914-01668147D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241D3F-64D0-B01E-A6D3-9C617CEF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3896D-C7F5-9EDC-E316-EC7671AB7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49EF3-D8B3-E1E3-2F07-7F10E6B9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61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6DB5F-F301-7D67-EE34-2600942E8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8D21-3D22-5BBB-0335-EC12A8C56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805F7-ECDC-E979-3ADA-10D2B59C2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12218-5A63-2A7D-A235-D5EAD94FE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D93F51-B2BE-E37C-CD23-9365FEE00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2DA23-4C48-9D95-9BE8-20ED64B00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9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D137A-020A-BB47-4BE7-2B21BEB0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035A74-8DA7-33BD-CE9D-BDBDB238F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298F9-6ED2-828F-24D7-21026CA86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B416B-5CD3-9ECD-FDEF-9F522DED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01693-2772-51FF-D59F-75A545E6C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4B2AC-899D-4569-E63D-5814A646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8446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9148D-B01E-2F31-958B-221D98A59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6AD3F6-5865-5C34-134E-38FF0500D7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A855B-0B3A-2CD3-AE4A-B75262204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8ED11-9EB3-FA17-47CD-F5505EED1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7B1A8-8080-FDC7-9D22-D99C78BFE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504F90-56A3-1D19-D0FA-A01CFD9DD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4E4515-2899-7018-189A-3485D00AD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B421E-BBBE-5080-B7BE-F23165C1C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E9715-598D-6283-2BD9-BDAD031A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0C86F-7DE0-F4C9-5021-A3849EF5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8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A102CE-2983-E547-43D4-4DC50E40E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E92E98-C6BB-2D5D-B03F-AE7B81940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92FF2-3770-1FBE-A624-785AB6814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E8EC5-31C4-D843-A125-5FB38F21C647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7F18B-2D19-95E1-FC8E-53C8F094B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AE927-B636-C33B-823E-AAD27E3FE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02C1C-C3DD-334F-8472-3CE850E958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34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F110E-C4EF-3D94-EEB3-73635CE7DF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0353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Gun Laws &amp; Gun Deaths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76515F-6DE2-0684-C505-DB50FF2F89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Maxfield Raynolds</a:t>
            </a:r>
          </a:p>
          <a:p>
            <a:pPr algn="l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Data 608</a:t>
            </a:r>
          </a:p>
          <a:p>
            <a:pPr algn="l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Spring 2026</a:t>
            </a:r>
          </a:p>
          <a:p>
            <a:pPr algn="l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Story 3</a:t>
            </a:r>
          </a:p>
          <a:p>
            <a:pPr algn="l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Focus: Chart Selection</a:t>
            </a:r>
          </a:p>
        </p:txBody>
      </p:sp>
    </p:spTree>
    <p:extLst>
      <p:ext uri="{BB962C8B-B14F-4D97-AF65-F5344CB8AC3E}">
        <p14:creationId xmlns:p14="http://schemas.microsoft.com/office/powerpoint/2010/main" val="2799604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E203F-242B-0A65-D27F-AA82168F3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Gun law strength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1F052D-1C1D-4F25-618B-0F9945B109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287" t="21002" r="3797" b="1"/>
          <a:stretch>
            <a:fillRect/>
          </a:stretch>
        </p:blipFill>
        <p:spPr>
          <a:xfrm>
            <a:off x="2202180" y="1690688"/>
            <a:ext cx="7787640" cy="50398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EC91A8-B1AF-B282-61AF-3F80C0F14680}"/>
              </a:ext>
            </a:extLst>
          </p:cNvPr>
          <p:cNvSpPr txBox="1"/>
          <p:nvPr/>
        </p:nvSpPr>
        <p:spPr>
          <a:xfrm>
            <a:off x="838200" y="863600"/>
            <a:ext cx="867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Every state has different laws to control firearms.</a:t>
            </a:r>
          </a:p>
          <a:p>
            <a:r>
              <a:rPr lang="en-US" b="1" dirty="0"/>
              <a:t>Do differences in the strength of gun laws affect firearm deaths in US states?</a:t>
            </a:r>
          </a:p>
        </p:txBody>
      </p:sp>
    </p:spTree>
    <p:extLst>
      <p:ext uri="{BB962C8B-B14F-4D97-AF65-F5344CB8AC3E}">
        <p14:creationId xmlns:p14="http://schemas.microsoft.com/office/powerpoint/2010/main" val="165229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786FA-A491-F42F-02B3-E482F7B64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2D56-4BB7-6704-E9C3-B6D1739A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Very weak gun laws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27601A-1E16-2247-9D33-7FDC604E3A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813" b="79675"/>
          <a:stretch>
            <a:fillRect/>
          </a:stretch>
        </p:blipFill>
        <p:spPr>
          <a:xfrm>
            <a:off x="168047" y="1359485"/>
            <a:ext cx="11855906" cy="41390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59DC8E-EEB3-F384-BA3E-A7B1CCCDE5CE}"/>
              </a:ext>
            </a:extLst>
          </p:cNvPr>
          <p:cNvSpPr txBox="1"/>
          <p:nvPr/>
        </p:nvSpPr>
        <p:spPr>
          <a:xfrm>
            <a:off x="838200" y="863600"/>
            <a:ext cx="867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States with </a:t>
            </a:r>
            <a:r>
              <a:rPr lang="en-US" b="1" dirty="0"/>
              <a:t>very weak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gun laws average </a:t>
            </a:r>
            <a:r>
              <a:rPr lang="en-US" b="1" dirty="0"/>
              <a:t>17.6 firearm deaths per 100k people 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and </a:t>
            </a:r>
            <a:r>
              <a:rPr lang="en-US" b="1" dirty="0"/>
              <a:t>a high of more than 25 firearm death per 100k people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6202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F1F3D-ED00-CE35-82A7-706EC663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59CE-43BB-60D7-EEE6-A4A354F01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Weak gun laws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D736B0-F8A9-2704-9B5F-CBDFCA3115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771" t="20081" r="771" b="63990"/>
          <a:stretch>
            <a:fillRect/>
          </a:stretch>
        </p:blipFill>
        <p:spPr>
          <a:xfrm>
            <a:off x="168047" y="1432560"/>
            <a:ext cx="11855906" cy="39928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C4EB80-FB57-895C-5C70-26C093140E7B}"/>
              </a:ext>
            </a:extLst>
          </p:cNvPr>
          <p:cNvSpPr txBox="1"/>
          <p:nvPr/>
        </p:nvSpPr>
        <p:spPr>
          <a:xfrm>
            <a:off x="838200" y="863600"/>
            <a:ext cx="867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States with </a:t>
            </a:r>
            <a:r>
              <a:rPr lang="en-US" b="1" dirty="0"/>
              <a:t>weak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gun laws average </a:t>
            </a:r>
            <a:r>
              <a:rPr lang="en-US" b="1" dirty="0"/>
              <a:t>13.3 firearm deaths per 100k people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7383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AA35-2963-DAC0-A41A-E4F0F41A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8941-A2A6-F369-92B0-75E36E6E4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Moderate gun laws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6BD9FA-C7DF-454B-9EAD-EFE726C06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600" t="36026" r="600" b="47939"/>
          <a:stretch>
            <a:fillRect/>
          </a:stretch>
        </p:blipFill>
        <p:spPr>
          <a:xfrm>
            <a:off x="96927" y="1564640"/>
            <a:ext cx="11855906" cy="4019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0A3970-C5FE-3379-CD60-CF631308356F}"/>
              </a:ext>
            </a:extLst>
          </p:cNvPr>
          <p:cNvSpPr txBox="1"/>
          <p:nvPr/>
        </p:nvSpPr>
        <p:spPr>
          <a:xfrm>
            <a:off x="838200" y="863600"/>
            <a:ext cx="867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States with </a:t>
            </a:r>
            <a:r>
              <a:rPr lang="en-US" b="1" dirty="0"/>
              <a:t>moderate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gun laws average </a:t>
            </a:r>
            <a:r>
              <a:rPr lang="en-US" b="1" dirty="0"/>
              <a:t>14.8 firearm deaths per 100k people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502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E3CC2-B8FC-29DF-7968-B680A15DE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3F49-7008-EA52-6802-AC98AB4C7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Strong gun laws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2D5DEFD-5309-A2E7-058C-F5A3D55005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-600" t="51323" r="600" b="31978"/>
          <a:stretch>
            <a:fillRect/>
          </a:stretch>
        </p:blipFill>
        <p:spPr>
          <a:xfrm>
            <a:off x="168047" y="1336040"/>
            <a:ext cx="11855906" cy="4185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015ED9-A032-3B1D-EE97-060CE22C467A}"/>
              </a:ext>
            </a:extLst>
          </p:cNvPr>
          <p:cNvSpPr txBox="1"/>
          <p:nvPr/>
        </p:nvSpPr>
        <p:spPr>
          <a:xfrm>
            <a:off x="838200" y="863600"/>
            <a:ext cx="867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States with </a:t>
            </a:r>
            <a:r>
              <a:rPr lang="en-US" b="1" dirty="0"/>
              <a:t>strong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gun laws average </a:t>
            </a:r>
            <a:r>
              <a:rPr lang="en-US" b="1" dirty="0"/>
              <a:t>11.7 firearm deaths per 100k people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6581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1F397-9247-E32F-367D-ADB21512C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4FFA-E48B-556D-C381-466788A9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Very strong gun laws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CC46C8-08EF-D98D-B6BA-2C1EA423D4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18" t="67009" r="-818" b="16292"/>
          <a:stretch>
            <a:fillRect/>
          </a:stretch>
        </p:blipFill>
        <p:spPr>
          <a:xfrm>
            <a:off x="168047" y="1336040"/>
            <a:ext cx="11855906" cy="4185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4E1494-E591-4BAE-A7B1-A8185A1796D7}"/>
              </a:ext>
            </a:extLst>
          </p:cNvPr>
          <p:cNvSpPr txBox="1"/>
          <p:nvPr/>
        </p:nvSpPr>
        <p:spPr>
          <a:xfrm>
            <a:off x="838200" y="863600"/>
            <a:ext cx="8671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States with </a:t>
            </a:r>
            <a:r>
              <a:rPr lang="en-US" b="1" dirty="0"/>
              <a:t>very strong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gun laws average </a:t>
            </a:r>
            <a:r>
              <a:rPr lang="en-US" b="1" dirty="0"/>
              <a:t>5.8 firearm deaths per 100k people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380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340FC-F5FF-4489-53AF-9AA245B4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940EB-5589-D0A7-CBC1-B82CEDE20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6102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Correlation: Gun Laws &amp; Firearm Deaths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96286-F591-F547-DBE1-9738E1294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16" b="-105"/>
          <a:stretch>
            <a:fillRect/>
          </a:stretch>
        </p:blipFill>
        <p:spPr>
          <a:xfrm>
            <a:off x="757099" y="1652016"/>
            <a:ext cx="10677801" cy="47782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689449-EE16-950E-D1BA-AD29DD32894F}"/>
              </a:ext>
            </a:extLst>
          </p:cNvPr>
          <p:cNvSpPr txBox="1"/>
          <p:nvPr/>
        </p:nvSpPr>
        <p:spPr>
          <a:xfrm>
            <a:off x="838200" y="811332"/>
            <a:ext cx="9049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There is a strong negative correlation between an increase in the strength of firearm laws and a decrease in firearm deaths. In other words:</a:t>
            </a:r>
          </a:p>
          <a:p>
            <a:r>
              <a:rPr lang="en-US">
                <a:solidFill>
                  <a:schemeClr val="bg1">
                    <a:lumMod val="75000"/>
                  </a:schemeClr>
                </a:solidFill>
              </a:rPr>
              <a:t>	 </a:t>
            </a:r>
            <a:r>
              <a:rPr lang="en-US" b="1" dirty="0"/>
              <a:t>When laws get stronger, firearm deaths decrease.</a:t>
            </a:r>
          </a:p>
        </p:txBody>
      </p:sp>
    </p:spTree>
    <p:extLst>
      <p:ext uri="{BB962C8B-B14F-4D97-AF65-F5344CB8AC3E}">
        <p14:creationId xmlns:p14="http://schemas.microsoft.com/office/powerpoint/2010/main" val="315030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184</Words>
  <Application>Microsoft Macintosh PowerPoint</Application>
  <PresentationFormat>Widescreen</PresentationFormat>
  <Paragraphs>23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Gun Laws &amp; Gun Deaths</vt:lpstr>
      <vt:lpstr>Gun law strength</vt:lpstr>
      <vt:lpstr>Very weak gun laws</vt:lpstr>
      <vt:lpstr>Weak gun laws</vt:lpstr>
      <vt:lpstr>Moderate gun laws</vt:lpstr>
      <vt:lpstr>Strong gun laws</vt:lpstr>
      <vt:lpstr>Very strong gun laws</vt:lpstr>
      <vt:lpstr>Correlation: Gun Laws &amp; Firearm Deaths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Maxfield Raynolds</dc:creator>
  <cp:lastModifiedBy>Maxfield Raynolds</cp:lastModifiedBy>
  <cp:revision>5</cp:revision>
  <dcterms:created xsi:type="dcterms:W3CDTF">2026-03-09T05:01:00Z</dcterms:created>
  <dcterms:modified xsi:type="dcterms:W3CDTF">2026-03-12T23:05:05Z</dcterms:modified>
</cp:coreProperties>
</file>